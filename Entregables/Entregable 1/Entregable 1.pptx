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x="18288000" cy="10287000"/>
  <p:notesSz cx="6858000" cy="9144000"/>
  <p:embeddedFontLst>
    <p:embeddedFont>
      <p:font typeface="Mokoto" charset="1" panose="00000000000000000000"/>
      <p:regular r:id="rId47"/>
    </p:embeddedFont>
    <p:embeddedFont>
      <p:font typeface="Sniglet" charset="1" panose="04070505030100020000"/>
      <p:regular r:id="rId48"/>
    </p:embeddedFont>
    <p:embeddedFont>
      <p:font typeface="Lovelo" charset="1" panose="02000000000000000000"/>
      <p:regular r:id="rId49"/>
    </p:embeddedFont>
    <p:embeddedFont>
      <p:font typeface="Poppins Bold" charset="1" panose="00000800000000000000"/>
      <p:regular r:id="rId50"/>
    </p:embeddedFont>
    <p:embeddedFont>
      <p:font typeface="Poppins" charset="1" panose="00000500000000000000"/>
      <p:regular r:id="rId51"/>
    </p:embeddedFont>
    <p:embeddedFont>
      <p:font typeface="Open Sans Bold" charset="1" panose="020B0806030504020204"/>
      <p:regular r:id="rId52"/>
    </p:embeddedFont>
    <p:embeddedFont>
      <p:font typeface="Open Sans" charset="1" panose="020B0606030504020204"/>
      <p:regular r:id="rId5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fonts/font52.fntdata" Type="http://schemas.openxmlformats.org/officeDocument/2006/relationships/font"/><Relationship Id="rId53" Target="fonts/font53.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0.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1.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2.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3.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4.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5.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png" Type="http://schemas.openxmlformats.org/officeDocument/2006/relationships/image"/><Relationship Id="rId11" Target="../media/image35.svg" Type="http://schemas.openxmlformats.org/officeDocument/2006/relationships/image"/><Relationship Id="rId2" Target="../media/image28.png" Type="http://schemas.openxmlformats.org/officeDocument/2006/relationships/image"/><Relationship Id="rId3" Target="../media/image29.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 Id="rId8" Target="../media/image32.png" Type="http://schemas.openxmlformats.org/officeDocument/2006/relationships/image"/><Relationship Id="rId9" Target="../media/image3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TextBox 2" id="2"/>
          <p:cNvSpPr txBox="true"/>
          <p:nvPr/>
        </p:nvSpPr>
        <p:spPr>
          <a:xfrm rot="0">
            <a:off x="1028700" y="2084274"/>
            <a:ext cx="13037820" cy="3225635"/>
          </a:xfrm>
          <a:prstGeom prst="rect">
            <a:avLst/>
          </a:prstGeom>
        </p:spPr>
        <p:txBody>
          <a:bodyPr anchor="t" rtlCol="false" tIns="0" lIns="0" bIns="0" rIns="0">
            <a:spAutoFit/>
          </a:bodyPr>
          <a:lstStyle/>
          <a:p>
            <a:pPr algn="l" marL="0" indent="0" lvl="0">
              <a:lnSpc>
                <a:spcPts val="12833"/>
              </a:lnSpc>
            </a:pPr>
            <a:r>
              <a:rPr lang="en-US" sz="10026" spc="-1243">
                <a:solidFill>
                  <a:srgbClr val="05061C"/>
                </a:solidFill>
                <a:latin typeface="Mokoto"/>
                <a:ea typeface="Mokoto"/>
                <a:cs typeface="Mokoto"/>
                <a:sym typeface="Mokoto"/>
              </a:rPr>
              <a:t>CONSTRUCCION DE SOFTWARE</a:t>
            </a:r>
          </a:p>
        </p:txBody>
      </p:sp>
      <p:sp>
        <p:nvSpPr>
          <p:cNvPr name="Freeform 3" id="3"/>
          <p:cNvSpPr/>
          <p:nvPr/>
        </p:nvSpPr>
        <p:spPr>
          <a:xfrm flipH="false" flipV="false" rot="5400000">
            <a:off x="11284087" y="-1406260"/>
            <a:ext cx="2525072" cy="3773885"/>
          </a:xfrm>
          <a:custGeom>
            <a:avLst/>
            <a:gdLst/>
            <a:ahLst/>
            <a:cxnLst/>
            <a:rect r="r" b="b" t="t" l="l"/>
            <a:pathLst>
              <a:path h="3773885" w="2525072">
                <a:moveTo>
                  <a:pt x="0" y="0"/>
                </a:moveTo>
                <a:lnTo>
                  <a:pt x="2525072" y="0"/>
                </a:lnTo>
                <a:lnTo>
                  <a:pt x="2525072" y="3773885"/>
                </a:lnTo>
                <a:lnTo>
                  <a:pt x="0" y="37738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09842" y="6367953"/>
            <a:ext cx="9453842" cy="3919047"/>
          </a:xfrm>
          <a:custGeom>
            <a:avLst/>
            <a:gdLst/>
            <a:ahLst/>
            <a:cxnLst/>
            <a:rect r="r" b="b" t="t" l="l"/>
            <a:pathLst>
              <a:path h="3919047" w="9453842">
                <a:moveTo>
                  <a:pt x="0" y="0"/>
                </a:moveTo>
                <a:lnTo>
                  <a:pt x="9453842" y="0"/>
                </a:lnTo>
                <a:lnTo>
                  <a:pt x="9453842" y="3919047"/>
                </a:lnTo>
                <a:lnTo>
                  <a:pt x="0" y="39190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139840" y="-873347"/>
            <a:ext cx="4133590" cy="4133590"/>
          </a:xfrm>
          <a:custGeom>
            <a:avLst/>
            <a:gdLst/>
            <a:ahLst/>
            <a:cxnLst/>
            <a:rect r="r" b="b" t="t" l="l"/>
            <a:pathLst>
              <a:path h="4133590" w="4133590">
                <a:moveTo>
                  <a:pt x="0" y="0"/>
                </a:moveTo>
                <a:lnTo>
                  <a:pt x="4133590" y="0"/>
                </a:lnTo>
                <a:lnTo>
                  <a:pt x="4133590" y="4133590"/>
                </a:lnTo>
                <a:lnTo>
                  <a:pt x="0" y="413359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10151247" y="6715870"/>
            <a:ext cx="8136753" cy="2697830"/>
          </a:xfrm>
          <a:prstGeom prst="rect">
            <a:avLst/>
          </a:prstGeom>
        </p:spPr>
        <p:txBody>
          <a:bodyPr anchor="t" rtlCol="false" tIns="0" lIns="0" bIns="0" rIns="0">
            <a:spAutoFit/>
          </a:bodyPr>
          <a:lstStyle/>
          <a:p>
            <a:pPr algn="l" marL="670110" indent="-335055" lvl="1">
              <a:lnSpc>
                <a:spcPts val="4345"/>
              </a:lnSpc>
              <a:buFont typeface="Arial"/>
              <a:buChar char="•"/>
            </a:pPr>
            <a:r>
              <a:rPr lang="en-US" sz="3103">
                <a:solidFill>
                  <a:srgbClr val="000000"/>
                </a:solidFill>
                <a:latin typeface="Sniglet"/>
                <a:ea typeface="Sniglet"/>
                <a:cs typeface="Sniglet"/>
                <a:sym typeface="Sniglet"/>
              </a:rPr>
              <a:t>Chavez Miranda Leonardo Gabriel</a:t>
            </a:r>
          </a:p>
          <a:p>
            <a:pPr algn="l" marL="670110" indent="-335055" lvl="1">
              <a:lnSpc>
                <a:spcPts val="4345"/>
              </a:lnSpc>
              <a:buFont typeface="Arial"/>
              <a:buChar char="•"/>
            </a:pPr>
            <a:r>
              <a:rPr lang="en-US" sz="3103">
                <a:solidFill>
                  <a:srgbClr val="000000"/>
                </a:solidFill>
                <a:latin typeface="Sniglet"/>
                <a:ea typeface="Sniglet"/>
                <a:cs typeface="Sniglet"/>
                <a:sym typeface="Sniglet"/>
              </a:rPr>
              <a:t>Ramos Jacay Dair David</a:t>
            </a:r>
          </a:p>
          <a:p>
            <a:pPr algn="l" marL="670110" indent="-335055" lvl="1">
              <a:lnSpc>
                <a:spcPts val="4345"/>
              </a:lnSpc>
              <a:buFont typeface="Arial"/>
              <a:buChar char="•"/>
            </a:pPr>
            <a:r>
              <a:rPr lang="en-US" sz="3103">
                <a:solidFill>
                  <a:srgbClr val="000000"/>
                </a:solidFill>
                <a:latin typeface="Sniglet"/>
                <a:ea typeface="Sniglet"/>
                <a:cs typeface="Sniglet"/>
                <a:sym typeface="Sniglet"/>
              </a:rPr>
              <a:t>Eustaquio Avila Luis Gabriel</a:t>
            </a:r>
          </a:p>
          <a:p>
            <a:pPr algn="l" marL="670110" indent="-335055" lvl="1">
              <a:lnSpc>
                <a:spcPts val="4345"/>
              </a:lnSpc>
              <a:buFont typeface="Arial"/>
              <a:buChar char="•"/>
            </a:pPr>
            <a:r>
              <a:rPr lang="en-US" sz="3103">
                <a:solidFill>
                  <a:srgbClr val="000000"/>
                </a:solidFill>
                <a:latin typeface="Sniglet"/>
                <a:ea typeface="Sniglet"/>
                <a:cs typeface="Sniglet"/>
                <a:sym typeface="Sniglet"/>
              </a:rPr>
              <a:t>Paucar Ventura Luis Antonio</a:t>
            </a:r>
          </a:p>
          <a:p>
            <a:pPr algn="l" marL="670110" indent="-335055" lvl="1">
              <a:lnSpc>
                <a:spcPts val="4345"/>
              </a:lnSpc>
              <a:buFont typeface="Arial"/>
              <a:buChar char="•"/>
            </a:pPr>
            <a:r>
              <a:rPr lang="en-US" sz="3103">
                <a:solidFill>
                  <a:srgbClr val="000000"/>
                </a:solidFill>
                <a:latin typeface="Sniglet"/>
                <a:ea typeface="Sniglet"/>
                <a:cs typeface="Sniglet"/>
                <a:sym typeface="Sniglet"/>
              </a:rPr>
              <a:t>Chupa Ballesteros Gabriel</a:t>
            </a:r>
          </a:p>
        </p:txBody>
      </p:sp>
      <p:sp>
        <p:nvSpPr>
          <p:cNvPr name="TextBox 7" id="7"/>
          <p:cNvSpPr txBox="true"/>
          <p:nvPr/>
        </p:nvSpPr>
        <p:spPr>
          <a:xfrm rot="0">
            <a:off x="1028700" y="962025"/>
            <a:ext cx="3452854" cy="529837"/>
          </a:xfrm>
          <a:prstGeom prst="rect">
            <a:avLst/>
          </a:prstGeom>
        </p:spPr>
        <p:txBody>
          <a:bodyPr anchor="t" rtlCol="false" tIns="0" lIns="0" bIns="0" rIns="0">
            <a:spAutoFit/>
          </a:bodyPr>
          <a:lstStyle/>
          <a:p>
            <a:pPr algn="l">
              <a:lnSpc>
                <a:spcPts val="4345"/>
              </a:lnSpc>
            </a:pPr>
            <a:r>
              <a:rPr lang="en-US" sz="3103">
                <a:solidFill>
                  <a:srgbClr val="000000"/>
                </a:solidFill>
                <a:latin typeface="Sniglet"/>
                <a:ea typeface="Sniglet"/>
                <a:cs typeface="Sniglet"/>
                <a:sym typeface="Sniglet"/>
              </a:rPr>
              <a:t>7 de mayo de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4E767D"/>
        </a:solidFill>
      </p:bgPr>
    </p:bg>
    <p:spTree>
      <p:nvGrpSpPr>
        <p:cNvPr id="1" name=""/>
        <p:cNvGrpSpPr/>
        <p:nvPr/>
      </p:nvGrpSpPr>
      <p:grpSpPr>
        <a:xfrm>
          <a:off x="0" y="0"/>
          <a:ext cx="0" cy="0"/>
          <a:chOff x="0" y="0"/>
          <a:chExt cx="0" cy="0"/>
        </a:xfrm>
      </p:grpSpPr>
      <p:sp>
        <p:nvSpPr>
          <p:cNvPr name="Freeform 2" id="2"/>
          <p:cNvSpPr/>
          <p:nvPr/>
        </p:nvSpPr>
        <p:spPr>
          <a:xfrm flipH="true" flipV="false" rot="-10800000">
            <a:off x="12461598" y="-60753"/>
            <a:ext cx="8288984" cy="2178906"/>
          </a:xfrm>
          <a:custGeom>
            <a:avLst/>
            <a:gdLst/>
            <a:ahLst/>
            <a:cxnLst/>
            <a:rect r="r" b="b" t="t" l="l"/>
            <a:pathLst>
              <a:path h="2178906" w="8288984">
                <a:moveTo>
                  <a:pt x="8288984" y="0"/>
                </a:moveTo>
                <a:lnTo>
                  <a:pt x="0" y="0"/>
                </a:lnTo>
                <a:lnTo>
                  <a:pt x="0" y="2178906"/>
                </a:lnTo>
                <a:lnTo>
                  <a:pt x="8288984" y="2178906"/>
                </a:lnTo>
                <a:lnTo>
                  <a:pt x="8288984" y="0"/>
                </a:lnTo>
                <a:close/>
              </a:path>
            </a:pathLst>
          </a:custGeom>
          <a:blipFill>
            <a:blip r:embed="rId2">
              <a:alphaModFix amt="38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777208"/>
            <a:ext cx="16374040" cy="8732583"/>
            <a:chOff x="0" y="0"/>
            <a:chExt cx="4312504" cy="2299940"/>
          </a:xfrm>
        </p:grpSpPr>
        <p:sp>
          <p:nvSpPr>
            <p:cNvPr name="Freeform 4" id="4"/>
            <p:cNvSpPr/>
            <p:nvPr/>
          </p:nvSpPr>
          <p:spPr>
            <a:xfrm flipH="false" flipV="false" rot="0">
              <a:off x="0" y="0"/>
              <a:ext cx="4312504" cy="2299940"/>
            </a:xfrm>
            <a:custGeom>
              <a:avLst/>
              <a:gdLst/>
              <a:ahLst/>
              <a:cxnLst/>
              <a:rect r="r" b="b" t="t" l="l"/>
              <a:pathLst>
                <a:path h="2299940" w="4312504">
                  <a:moveTo>
                    <a:pt x="0" y="0"/>
                  </a:moveTo>
                  <a:lnTo>
                    <a:pt x="4312504" y="0"/>
                  </a:lnTo>
                  <a:lnTo>
                    <a:pt x="4312504" y="2299940"/>
                  </a:lnTo>
                  <a:lnTo>
                    <a:pt x="0" y="2299940"/>
                  </a:lnTo>
                  <a:close/>
                </a:path>
              </a:pathLst>
            </a:custGeom>
            <a:solidFill>
              <a:srgbClr val="F0F6F5"/>
            </a:solidFill>
          </p:spPr>
        </p:sp>
        <p:sp>
          <p:nvSpPr>
            <p:cNvPr name="TextBox 5" id="5"/>
            <p:cNvSpPr txBox="true"/>
            <p:nvPr/>
          </p:nvSpPr>
          <p:spPr>
            <a:xfrm>
              <a:off x="0" y="-47625"/>
              <a:ext cx="4312504" cy="2347565"/>
            </a:xfrm>
            <a:prstGeom prst="rect">
              <a:avLst/>
            </a:prstGeom>
          </p:spPr>
          <p:txBody>
            <a:bodyPr anchor="ctr" rtlCol="false" tIns="50800" lIns="50800" bIns="50800" rIns="50800"/>
            <a:lstStyle/>
            <a:p>
              <a:pPr algn="ctr">
                <a:lnSpc>
                  <a:spcPts val="3174"/>
                </a:lnSpc>
              </a:pPr>
            </a:p>
          </p:txBody>
        </p:sp>
      </p:grpSp>
      <p:sp>
        <p:nvSpPr>
          <p:cNvPr name="Freeform 6" id="6"/>
          <p:cNvSpPr/>
          <p:nvPr/>
        </p:nvSpPr>
        <p:spPr>
          <a:xfrm flipH="false" flipV="false" rot="0">
            <a:off x="-811960" y="7641457"/>
            <a:ext cx="3824759" cy="3859848"/>
          </a:xfrm>
          <a:custGeom>
            <a:avLst/>
            <a:gdLst/>
            <a:ahLst/>
            <a:cxnLst/>
            <a:rect r="r" b="b" t="t" l="l"/>
            <a:pathLst>
              <a:path h="3859848" w="3824759">
                <a:moveTo>
                  <a:pt x="0" y="0"/>
                </a:moveTo>
                <a:lnTo>
                  <a:pt x="3824759" y="0"/>
                </a:lnTo>
                <a:lnTo>
                  <a:pt x="3824759" y="3859848"/>
                </a:lnTo>
                <a:lnTo>
                  <a:pt x="0" y="3859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5790644" y="-279825"/>
            <a:ext cx="3080752" cy="3103322"/>
          </a:xfrm>
          <a:custGeom>
            <a:avLst/>
            <a:gdLst/>
            <a:ahLst/>
            <a:cxnLst/>
            <a:rect r="r" b="b" t="t" l="l"/>
            <a:pathLst>
              <a:path h="3103322" w="3080752">
                <a:moveTo>
                  <a:pt x="0" y="0"/>
                </a:moveTo>
                <a:lnTo>
                  <a:pt x="3080752" y="0"/>
                </a:lnTo>
                <a:lnTo>
                  <a:pt x="3080752" y="3103322"/>
                </a:lnTo>
                <a:lnTo>
                  <a:pt x="0" y="31033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6606090" y="7217020"/>
            <a:ext cx="653210" cy="4082561"/>
          </a:xfrm>
          <a:custGeom>
            <a:avLst/>
            <a:gdLst/>
            <a:ahLst/>
            <a:cxnLst/>
            <a:rect r="r" b="b" t="t" l="l"/>
            <a:pathLst>
              <a:path h="4082561" w="653210">
                <a:moveTo>
                  <a:pt x="0" y="0"/>
                </a:moveTo>
                <a:lnTo>
                  <a:pt x="653210" y="0"/>
                </a:lnTo>
                <a:lnTo>
                  <a:pt x="653210" y="4082560"/>
                </a:lnTo>
                <a:lnTo>
                  <a:pt x="0" y="40825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5496804" y="7217020"/>
            <a:ext cx="586404" cy="4082561"/>
          </a:xfrm>
          <a:custGeom>
            <a:avLst/>
            <a:gdLst/>
            <a:ahLst/>
            <a:cxnLst/>
            <a:rect r="r" b="b" t="t" l="l"/>
            <a:pathLst>
              <a:path h="4082561" w="586404">
                <a:moveTo>
                  <a:pt x="0" y="0"/>
                </a:moveTo>
                <a:lnTo>
                  <a:pt x="586404" y="0"/>
                </a:lnTo>
                <a:lnTo>
                  <a:pt x="586404" y="4082560"/>
                </a:lnTo>
                <a:lnTo>
                  <a:pt x="0" y="408256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true" flipV="false" rot="0">
            <a:off x="-5860783" y="2668082"/>
            <a:ext cx="8288984" cy="2178906"/>
          </a:xfrm>
          <a:custGeom>
            <a:avLst/>
            <a:gdLst/>
            <a:ahLst/>
            <a:cxnLst/>
            <a:rect r="r" b="b" t="t" l="l"/>
            <a:pathLst>
              <a:path h="2178906" w="8288984">
                <a:moveTo>
                  <a:pt x="8288984" y="0"/>
                </a:moveTo>
                <a:lnTo>
                  <a:pt x="0" y="0"/>
                </a:lnTo>
                <a:lnTo>
                  <a:pt x="0" y="2178906"/>
                </a:lnTo>
                <a:lnTo>
                  <a:pt x="8288984" y="2178906"/>
                </a:lnTo>
                <a:lnTo>
                  <a:pt x="8288984" y="0"/>
                </a:lnTo>
                <a:close/>
              </a:path>
            </a:pathLst>
          </a:custGeom>
          <a:blipFill>
            <a:blip r:embed="rId2">
              <a:alphaModFix amt="38000"/>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true" flipV="false" rot="0">
            <a:off x="7501660" y="8875500"/>
            <a:ext cx="8288984" cy="2178906"/>
          </a:xfrm>
          <a:custGeom>
            <a:avLst/>
            <a:gdLst/>
            <a:ahLst/>
            <a:cxnLst/>
            <a:rect r="r" b="b" t="t" l="l"/>
            <a:pathLst>
              <a:path h="2178906" w="8288984">
                <a:moveTo>
                  <a:pt x="8288984" y="0"/>
                </a:moveTo>
                <a:lnTo>
                  <a:pt x="0" y="0"/>
                </a:lnTo>
                <a:lnTo>
                  <a:pt x="0" y="2178906"/>
                </a:lnTo>
                <a:lnTo>
                  <a:pt x="8288984" y="2178906"/>
                </a:lnTo>
                <a:lnTo>
                  <a:pt x="8288984" y="0"/>
                </a:lnTo>
                <a:close/>
              </a:path>
            </a:pathLst>
          </a:custGeom>
          <a:blipFill>
            <a:blip r:embed="rId2">
              <a:alphaModFix amt="38000"/>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644746" y="3841025"/>
            <a:ext cx="20835606" cy="2604951"/>
            <a:chOff x="0" y="0"/>
            <a:chExt cx="5487567" cy="686078"/>
          </a:xfrm>
        </p:grpSpPr>
        <p:sp>
          <p:nvSpPr>
            <p:cNvPr name="Freeform 13" id="13"/>
            <p:cNvSpPr/>
            <p:nvPr/>
          </p:nvSpPr>
          <p:spPr>
            <a:xfrm flipH="false" flipV="false" rot="0">
              <a:off x="0" y="0"/>
              <a:ext cx="5487567" cy="686078"/>
            </a:xfrm>
            <a:custGeom>
              <a:avLst/>
              <a:gdLst/>
              <a:ahLst/>
              <a:cxnLst/>
              <a:rect r="r" b="b" t="t" l="l"/>
              <a:pathLst>
                <a:path h="686078" w="5487567">
                  <a:moveTo>
                    <a:pt x="0" y="0"/>
                  </a:moveTo>
                  <a:lnTo>
                    <a:pt x="5487567" y="0"/>
                  </a:lnTo>
                  <a:lnTo>
                    <a:pt x="5487567" y="686078"/>
                  </a:lnTo>
                  <a:lnTo>
                    <a:pt x="0" y="686078"/>
                  </a:lnTo>
                  <a:close/>
                </a:path>
              </a:pathLst>
            </a:custGeom>
            <a:solidFill>
              <a:srgbClr val="4E767D"/>
            </a:solidFill>
          </p:spPr>
        </p:sp>
        <p:sp>
          <p:nvSpPr>
            <p:cNvPr name="TextBox 14" id="14"/>
            <p:cNvSpPr txBox="true"/>
            <p:nvPr/>
          </p:nvSpPr>
          <p:spPr>
            <a:xfrm>
              <a:off x="0" y="-47625"/>
              <a:ext cx="5487567" cy="733703"/>
            </a:xfrm>
            <a:prstGeom prst="rect">
              <a:avLst/>
            </a:prstGeom>
          </p:spPr>
          <p:txBody>
            <a:bodyPr anchor="ctr" rtlCol="false" tIns="50800" lIns="50800" bIns="50800" rIns="50800"/>
            <a:lstStyle/>
            <a:p>
              <a:pPr algn="ctr">
                <a:lnSpc>
                  <a:spcPts val="3174"/>
                </a:lnSpc>
              </a:pPr>
            </a:p>
          </p:txBody>
        </p:sp>
      </p:grpSp>
      <p:sp>
        <p:nvSpPr>
          <p:cNvPr name="TextBox 15" id="15"/>
          <p:cNvSpPr txBox="true"/>
          <p:nvPr/>
        </p:nvSpPr>
        <p:spPr>
          <a:xfrm rot="0">
            <a:off x="-978678" y="3831500"/>
            <a:ext cx="20388796" cy="3076575"/>
          </a:xfrm>
          <a:prstGeom prst="rect">
            <a:avLst/>
          </a:prstGeom>
        </p:spPr>
        <p:txBody>
          <a:bodyPr anchor="t" rtlCol="false" tIns="0" lIns="0" bIns="0" rIns="0">
            <a:spAutoFit/>
          </a:bodyPr>
          <a:lstStyle/>
          <a:p>
            <a:pPr algn="ctr" marL="0" indent="0" lvl="0">
              <a:lnSpc>
                <a:spcPts val="12120"/>
              </a:lnSpc>
              <a:spcBef>
                <a:spcPct val="0"/>
              </a:spcBef>
            </a:pPr>
            <a:r>
              <a:rPr lang="en-US" sz="10100" spc="-606">
                <a:solidFill>
                  <a:srgbClr val="F0F6F5"/>
                </a:solidFill>
                <a:latin typeface="Mokoto"/>
                <a:ea typeface="Mokoto"/>
                <a:cs typeface="Mokoto"/>
                <a:sym typeface="Mokoto"/>
              </a:rPr>
              <a:t>Sistema de Gestión Académica</a:t>
            </a:r>
          </a:p>
        </p:txBody>
      </p:sp>
      <p:sp>
        <p:nvSpPr>
          <p:cNvPr name="Freeform 16" id="16"/>
          <p:cNvSpPr/>
          <p:nvPr/>
        </p:nvSpPr>
        <p:spPr>
          <a:xfrm flipH="true" flipV="false" rot="0">
            <a:off x="-3508757" y="-1064553"/>
            <a:ext cx="9751946" cy="2563471"/>
          </a:xfrm>
          <a:custGeom>
            <a:avLst/>
            <a:gdLst/>
            <a:ahLst/>
            <a:cxnLst/>
            <a:rect r="r" b="b" t="t" l="l"/>
            <a:pathLst>
              <a:path h="2563471" w="9751946">
                <a:moveTo>
                  <a:pt x="9751946" y="0"/>
                </a:moveTo>
                <a:lnTo>
                  <a:pt x="0" y="0"/>
                </a:lnTo>
                <a:lnTo>
                  <a:pt x="0" y="2563471"/>
                </a:lnTo>
                <a:lnTo>
                  <a:pt x="9751946" y="2563471"/>
                </a:lnTo>
                <a:lnTo>
                  <a:pt x="9751946" y="0"/>
                </a:lnTo>
                <a:close/>
              </a:path>
            </a:pathLst>
          </a:custGeom>
          <a:blipFill>
            <a:blip r:embed="rId12">
              <a:alphaModFix amt="38000"/>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grpSp>
        <p:nvGrpSpPr>
          <p:cNvPr name="Group 2" id="2"/>
          <p:cNvGrpSpPr/>
          <p:nvPr/>
        </p:nvGrpSpPr>
        <p:grpSpPr>
          <a:xfrm rot="0">
            <a:off x="-622968" y="3377282"/>
            <a:ext cx="20835606" cy="4152763"/>
            <a:chOff x="0" y="0"/>
            <a:chExt cx="5487567" cy="1093732"/>
          </a:xfrm>
        </p:grpSpPr>
        <p:sp>
          <p:nvSpPr>
            <p:cNvPr name="Freeform 3" id="3"/>
            <p:cNvSpPr/>
            <p:nvPr/>
          </p:nvSpPr>
          <p:spPr>
            <a:xfrm flipH="false" flipV="false" rot="0">
              <a:off x="0" y="0"/>
              <a:ext cx="5487567" cy="1093732"/>
            </a:xfrm>
            <a:custGeom>
              <a:avLst/>
              <a:gdLst/>
              <a:ahLst/>
              <a:cxnLst/>
              <a:rect r="r" b="b" t="t" l="l"/>
              <a:pathLst>
                <a:path h="1093732" w="5487567">
                  <a:moveTo>
                    <a:pt x="0" y="0"/>
                  </a:moveTo>
                  <a:lnTo>
                    <a:pt x="5487567" y="0"/>
                  </a:lnTo>
                  <a:lnTo>
                    <a:pt x="5487567" y="1093732"/>
                  </a:lnTo>
                  <a:lnTo>
                    <a:pt x="0" y="1093732"/>
                  </a:lnTo>
                  <a:close/>
                </a:path>
              </a:pathLst>
            </a:custGeom>
            <a:solidFill>
              <a:srgbClr val="4E767D"/>
            </a:solidFill>
          </p:spPr>
        </p:sp>
        <p:sp>
          <p:nvSpPr>
            <p:cNvPr name="TextBox 4" id="4"/>
            <p:cNvSpPr txBox="true"/>
            <p:nvPr/>
          </p:nvSpPr>
          <p:spPr>
            <a:xfrm>
              <a:off x="0" y="-47625"/>
              <a:ext cx="5487567" cy="1141357"/>
            </a:xfrm>
            <a:prstGeom prst="rect">
              <a:avLst/>
            </a:prstGeom>
          </p:spPr>
          <p:txBody>
            <a:bodyPr anchor="ctr" rtlCol="false" tIns="50800" lIns="50800" bIns="50800" rIns="50800"/>
            <a:lstStyle/>
            <a:p>
              <a:pPr algn="ctr">
                <a:lnSpc>
                  <a:spcPts val="3174"/>
                </a:lnSpc>
              </a:pPr>
            </a:p>
          </p:txBody>
        </p:sp>
      </p:grpSp>
      <p:sp>
        <p:nvSpPr>
          <p:cNvPr name="TextBox 5" id="5"/>
          <p:cNvSpPr txBox="true"/>
          <p:nvPr/>
        </p:nvSpPr>
        <p:spPr>
          <a:xfrm rot="0">
            <a:off x="1469678" y="3910613"/>
            <a:ext cx="15400337" cy="3076575"/>
          </a:xfrm>
          <a:prstGeom prst="rect">
            <a:avLst/>
          </a:prstGeom>
        </p:spPr>
        <p:txBody>
          <a:bodyPr anchor="t" rtlCol="false" tIns="0" lIns="0" bIns="0" rIns="0">
            <a:spAutoFit/>
          </a:bodyPr>
          <a:lstStyle/>
          <a:p>
            <a:pPr algn="ctr" marL="0" indent="0" lvl="0">
              <a:lnSpc>
                <a:spcPts val="12120"/>
              </a:lnSpc>
              <a:spcBef>
                <a:spcPct val="0"/>
              </a:spcBef>
            </a:pPr>
            <a:r>
              <a:rPr lang="en-US" sz="10100" spc="-606">
                <a:solidFill>
                  <a:srgbClr val="F0F6F5"/>
                </a:solidFill>
                <a:latin typeface="Mokoto"/>
                <a:ea typeface="Mokoto"/>
                <a:cs typeface="Mokoto"/>
                <a:sym typeface="Mokoto"/>
              </a:rPr>
              <a:t>Requerimientos funcionales </a:t>
            </a:r>
          </a:p>
        </p:txBody>
      </p:sp>
      <p:sp>
        <p:nvSpPr>
          <p:cNvPr name="Freeform 6" id="6"/>
          <p:cNvSpPr/>
          <p:nvPr/>
        </p:nvSpPr>
        <p:spPr>
          <a:xfrm flipH="true" flipV="false" rot="0">
            <a:off x="-3508757" y="-1064553"/>
            <a:ext cx="9751946" cy="2563471"/>
          </a:xfrm>
          <a:custGeom>
            <a:avLst/>
            <a:gdLst/>
            <a:ahLst/>
            <a:cxnLst/>
            <a:rect r="r" b="b" t="t" l="l"/>
            <a:pathLst>
              <a:path h="2563471" w="9751946">
                <a:moveTo>
                  <a:pt x="9751946" y="0"/>
                </a:moveTo>
                <a:lnTo>
                  <a:pt x="0" y="0"/>
                </a:lnTo>
                <a:lnTo>
                  <a:pt x="0" y="2563471"/>
                </a:lnTo>
                <a:lnTo>
                  <a:pt x="9751946" y="2563471"/>
                </a:lnTo>
                <a:lnTo>
                  <a:pt x="9751946" y="0"/>
                </a:lnTo>
                <a:close/>
              </a:path>
            </a:pathLst>
          </a:custGeom>
          <a:blipFill>
            <a:blip r:embed="rId2">
              <a:alphaModFix amt="38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14994293" y="8520479"/>
            <a:ext cx="9751946" cy="2563471"/>
          </a:xfrm>
          <a:custGeom>
            <a:avLst/>
            <a:gdLst/>
            <a:ahLst/>
            <a:cxnLst/>
            <a:rect r="r" b="b" t="t" l="l"/>
            <a:pathLst>
              <a:path h="2563471" w="9751946">
                <a:moveTo>
                  <a:pt x="9751945" y="0"/>
                </a:moveTo>
                <a:lnTo>
                  <a:pt x="0" y="0"/>
                </a:lnTo>
                <a:lnTo>
                  <a:pt x="0" y="2563471"/>
                </a:lnTo>
                <a:lnTo>
                  <a:pt x="9751945" y="2563471"/>
                </a:lnTo>
                <a:lnTo>
                  <a:pt x="9751945" y="0"/>
                </a:lnTo>
                <a:close/>
              </a:path>
            </a:pathLst>
          </a:custGeom>
          <a:blipFill>
            <a:blip r:embed="rId2">
              <a:alphaModFix amt="38000"/>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987839" y="2356928"/>
            <a:ext cx="7508322" cy="505206"/>
          </a:xfrm>
          <a:prstGeom prst="rect">
            <a:avLst/>
          </a:prstGeom>
        </p:spPr>
        <p:txBody>
          <a:bodyPr anchor="t" rtlCol="false" tIns="0" lIns="0" bIns="0" rIns="0">
            <a:spAutoFit/>
          </a:bodyPr>
          <a:lstStyle/>
          <a:p>
            <a:pPr algn="ctr">
              <a:lnSpc>
                <a:spcPts val="4001"/>
              </a:lnSpc>
              <a:spcBef>
                <a:spcPct val="0"/>
              </a:spcBef>
            </a:pPr>
            <a:r>
              <a:rPr lang="en-US" sz="2899" spc="124">
                <a:solidFill>
                  <a:srgbClr val="000000"/>
                </a:solidFill>
                <a:latin typeface="Lovelo"/>
                <a:ea typeface="Lovelo"/>
                <a:cs typeface="Lovelo"/>
                <a:sym typeface="Lovelo"/>
              </a:rPr>
              <a:t>G</a:t>
            </a:r>
            <a:r>
              <a:rPr lang="en-US" sz="2899" spc="124">
                <a:solidFill>
                  <a:srgbClr val="000000"/>
                </a:solidFill>
                <a:latin typeface="Lovelo"/>
                <a:ea typeface="Lovelo"/>
                <a:cs typeface="Lovelo"/>
                <a:sym typeface="Lovelo"/>
              </a:rPr>
              <a:t>estión de Tenant y Configuración</a:t>
            </a:r>
          </a:p>
        </p:txBody>
      </p:sp>
      <p:sp>
        <p:nvSpPr>
          <p:cNvPr name="TextBox 5" id="5"/>
          <p:cNvSpPr txBox="true"/>
          <p:nvPr/>
        </p:nvSpPr>
        <p:spPr>
          <a:xfrm rot="0">
            <a:off x="2987839" y="3684696"/>
            <a:ext cx="8754711" cy="866775"/>
          </a:xfrm>
          <a:prstGeom prst="rect">
            <a:avLst/>
          </a:prstGeom>
        </p:spPr>
        <p:txBody>
          <a:bodyPr anchor="t" rtlCol="false" tIns="0" lIns="0" bIns="0" rIns="0">
            <a:spAutoFit/>
          </a:bodyPr>
          <a:lstStyle/>
          <a:p>
            <a:pPr algn="l">
              <a:lnSpc>
                <a:spcPts val="3450"/>
              </a:lnSpc>
              <a:spcBef>
                <a:spcPct val="0"/>
              </a:spcBef>
            </a:pPr>
            <a:r>
              <a:rPr lang="en-US" sz="2500" spc="92">
                <a:solidFill>
                  <a:srgbClr val="000000"/>
                </a:solidFill>
                <a:latin typeface="Sniglet"/>
                <a:ea typeface="Sniglet"/>
                <a:cs typeface="Sniglet"/>
                <a:sym typeface="Sniglet"/>
              </a:rPr>
              <a:t>Admi</a:t>
            </a:r>
            <a:r>
              <a:rPr lang="en-US" sz="2500" spc="92">
                <a:solidFill>
                  <a:srgbClr val="000000"/>
                </a:solidFill>
                <a:latin typeface="Sniglet"/>
                <a:ea typeface="Sniglet"/>
                <a:cs typeface="Sniglet"/>
                <a:sym typeface="Sniglet"/>
              </a:rPr>
              <a:t>nistra las instituciones (Tenants), configuraciones generales y políticas académicas del sistema</a:t>
            </a:r>
          </a:p>
        </p:txBody>
      </p:sp>
      <p:graphicFrame>
        <p:nvGraphicFramePr>
          <p:cNvPr name="Table 6" id="6"/>
          <p:cNvGraphicFramePr>
            <a:graphicFrameLocks noGrp="true"/>
          </p:cNvGraphicFramePr>
          <p:nvPr/>
        </p:nvGraphicFramePr>
        <p:xfrm>
          <a:off x="2987839" y="5545869"/>
          <a:ext cx="13623473" cy="2076450"/>
        </p:xfrm>
        <a:graphic>
          <a:graphicData uri="http://schemas.openxmlformats.org/drawingml/2006/table">
            <a:tbl>
              <a:tblPr/>
              <a:tblGrid>
                <a:gridCol w="3297312"/>
                <a:gridCol w="10326161"/>
              </a:tblGrid>
              <a:tr h="1038225">
                <a:tc>
                  <a:txBody>
                    <a:bodyPr anchor="t" rtlCol="false"/>
                    <a:lstStyle/>
                    <a:p>
                      <a:pPr algn="l">
                        <a:lnSpc>
                          <a:spcPts val="3359"/>
                        </a:lnSpc>
                        <a:defRPr/>
                      </a:pPr>
                      <a:r>
                        <a:rPr lang="en-US" sz="2399" b="true">
                          <a:solidFill>
                            <a:srgbClr val="000000"/>
                          </a:solidFill>
                          <a:latin typeface="Lovelo"/>
                          <a:ea typeface="Lovelo"/>
                          <a:cs typeface="Lovelo"/>
                          <a:sym typeface="Lovelo"/>
                        </a:rPr>
                        <a:t>RF-TNT-01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Lovelo"/>
                          <a:ea typeface="Lovelo"/>
                          <a:cs typeface="Lovelo"/>
                          <a:sym typeface="Lovelo"/>
                        </a:rPr>
                        <a:t>Administración de Tenants independientes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8225">
                <a:tc>
                  <a:txBody>
                    <a:bodyPr anchor="t" rtlCol="false"/>
                    <a:lstStyle/>
                    <a:p>
                      <a:pPr algn="l">
                        <a:lnSpc>
                          <a:spcPts val="3359"/>
                        </a:lnSpc>
                        <a:defRPr/>
                      </a:pPr>
                      <a:r>
                        <a:rPr lang="en-US" sz="2400">
                          <a:solidFill>
                            <a:srgbClr val="000000"/>
                          </a:solidFill>
                          <a:latin typeface="Lovelo"/>
                          <a:ea typeface="Lovelo"/>
                          <a:cs typeface="Lovelo"/>
                          <a:sym typeface="Lovelo"/>
                        </a:rPr>
                        <a:t>RF-TNT-03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Lovelo"/>
                          <a:ea typeface="Lovelo"/>
                          <a:cs typeface="Lovelo"/>
                          <a:sym typeface="Lovelo"/>
                        </a:rPr>
                        <a:t>Validación obligatoria del Tenant en cada operación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987839" y="2356928"/>
            <a:ext cx="7508322" cy="505206"/>
          </a:xfrm>
          <a:prstGeom prst="rect">
            <a:avLst/>
          </a:prstGeom>
        </p:spPr>
        <p:txBody>
          <a:bodyPr anchor="t" rtlCol="false" tIns="0" lIns="0" bIns="0" rIns="0">
            <a:spAutoFit/>
          </a:bodyPr>
          <a:lstStyle/>
          <a:p>
            <a:pPr algn="ctr">
              <a:lnSpc>
                <a:spcPts val="4001"/>
              </a:lnSpc>
              <a:spcBef>
                <a:spcPct val="0"/>
              </a:spcBef>
            </a:pPr>
            <a:r>
              <a:rPr lang="en-US" sz="2899" spc="124">
                <a:solidFill>
                  <a:srgbClr val="000000"/>
                </a:solidFill>
                <a:latin typeface="Lovelo"/>
                <a:ea typeface="Lovelo"/>
                <a:cs typeface="Lovelo"/>
                <a:sym typeface="Lovelo"/>
              </a:rPr>
              <a:t>G</a:t>
            </a:r>
            <a:r>
              <a:rPr lang="en-US" sz="2899" spc="124">
                <a:solidFill>
                  <a:srgbClr val="000000"/>
                </a:solidFill>
                <a:latin typeface="Lovelo"/>
                <a:ea typeface="Lovelo"/>
                <a:cs typeface="Lovelo"/>
                <a:sym typeface="Lovelo"/>
              </a:rPr>
              <a:t>estión de Períodos Académicos</a:t>
            </a:r>
          </a:p>
        </p:txBody>
      </p:sp>
      <p:sp>
        <p:nvSpPr>
          <p:cNvPr name="TextBox 5" id="5"/>
          <p:cNvSpPr txBox="true"/>
          <p:nvPr/>
        </p:nvSpPr>
        <p:spPr>
          <a:xfrm rot="0">
            <a:off x="2987839" y="3684696"/>
            <a:ext cx="8754711" cy="866775"/>
          </a:xfrm>
          <a:prstGeom prst="rect">
            <a:avLst/>
          </a:prstGeom>
        </p:spPr>
        <p:txBody>
          <a:bodyPr anchor="t" rtlCol="false" tIns="0" lIns="0" bIns="0" rIns="0">
            <a:spAutoFit/>
          </a:bodyPr>
          <a:lstStyle/>
          <a:p>
            <a:pPr algn="l">
              <a:lnSpc>
                <a:spcPts val="3450"/>
              </a:lnSpc>
              <a:spcBef>
                <a:spcPct val="0"/>
              </a:spcBef>
            </a:pPr>
            <a:r>
              <a:rPr lang="en-US" sz="2500" spc="92">
                <a:solidFill>
                  <a:srgbClr val="000000"/>
                </a:solidFill>
                <a:latin typeface="Sniglet"/>
                <a:ea typeface="Sniglet"/>
                <a:cs typeface="Sniglet"/>
                <a:sym typeface="Sniglet"/>
              </a:rPr>
              <a:t>Co</a:t>
            </a:r>
            <a:r>
              <a:rPr lang="en-US" sz="2500" spc="92">
                <a:solidFill>
                  <a:srgbClr val="000000"/>
                </a:solidFill>
                <a:latin typeface="Sniglet"/>
                <a:ea typeface="Sniglet"/>
                <a:cs typeface="Sniglet"/>
                <a:sym typeface="Sniglet"/>
              </a:rPr>
              <a:t>ntrola la creación, estados y cierre de los períodos académicos.</a:t>
            </a:r>
          </a:p>
        </p:txBody>
      </p:sp>
      <p:graphicFrame>
        <p:nvGraphicFramePr>
          <p:cNvPr name="Table 6" id="6"/>
          <p:cNvGraphicFramePr>
            <a:graphicFrameLocks noGrp="true"/>
          </p:cNvGraphicFramePr>
          <p:nvPr/>
        </p:nvGraphicFramePr>
        <p:xfrm>
          <a:off x="2987839" y="5545869"/>
          <a:ext cx="13623473" cy="2076450"/>
        </p:xfrm>
        <a:graphic>
          <a:graphicData uri="http://schemas.openxmlformats.org/drawingml/2006/table">
            <a:tbl>
              <a:tblPr/>
              <a:tblGrid>
                <a:gridCol w="3297312"/>
                <a:gridCol w="10326161"/>
              </a:tblGrid>
              <a:tr h="1038225">
                <a:tc>
                  <a:txBody>
                    <a:bodyPr anchor="t" rtlCol="false"/>
                    <a:lstStyle/>
                    <a:p>
                      <a:pPr algn="l">
                        <a:lnSpc>
                          <a:spcPts val="3359"/>
                        </a:lnSpc>
                        <a:defRPr/>
                      </a:pPr>
                      <a:r>
                        <a:rPr lang="en-US" sz="2399" b="true">
                          <a:solidFill>
                            <a:srgbClr val="000000"/>
                          </a:solidFill>
                          <a:latin typeface="Lovelo"/>
                          <a:ea typeface="Lovelo"/>
                          <a:cs typeface="Lovelo"/>
                          <a:sym typeface="Lovelo"/>
                        </a:rPr>
                        <a:t>RF-PER-02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Lovelo"/>
                          <a:ea typeface="Lovelo"/>
                          <a:cs typeface="Lovelo"/>
                          <a:sym typeface="Lovelo"/>
                        </a:rPr>
                        <a:t>Control de estados del período académico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8225">
                <a:tc>
                  <a:txBody>
                    <a:bodyPr anchor="t" rtlCol="false"/>
                    <a:lstStyle/>
                    <a:p>
                      <a:pPr algn="l">
                        <a:lnSpc>
                          <a:spcPts val="3359"/>
                        </a:lnSpc>
                        <a:defRPr/>
                      </a:pPr>
                      <a:r>
                        <a:rPr lang="en-US" sz="2400">
                          <a:solidFill>
                            <a:srgbClr val="000000"/>
                          </a:solidFill>
                          <a:latin typeface="Lovelo"/>
                          <a:ea typeface="Lovelo"/>
                          <a:cs typeface="Lovelo"/>
                          <a:sym typeface="Lovelo"/>
                        </a:rPr>
                        <a:t>RF-PER-04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Lovelo"/>
                          <a:ea typeface="Lovelo"/>
                          <a:cs typeface="Lovelo"/>
                          <a:sym typeface="Lovelo"/>
                        </a:rPr>
                        <a:t>Cálculo automático de PPS y PPA al cierre.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987839" y="2356928"/>
            <a:ext cx="8754711" cy="505206"/>
          </a:xfrm>
          <a:prstGeom prst="rect">
            <a:avLst/>
          </a:prstGeom>
        </p:spPr>
        <p:txBody>
          <a:bodyPr anchor="t" rtlCol="false" tIns="0" lIns="0" bIns="0" rIns="0">
            <a:spAutoFit/>
          </a:bodyPr>
          <a:lstStyle/>
          <a:p>
            <a:pPr algn="ctr">
              <a:lnSpc>
                <a:spcPts val="4001"/>
              </a:lnSpc>
              <a:spcBef>
                <a:spcPct val="0"/>
              </a:spcBef>
            </a:pPr>
            <a:r>
              <a:rPr lang="en-US" sz="2899" spc="124">
                <a:solidFill>
                  <a:srgbClr val="000000"/>
                </a:solidFill>
                <a:latin typeface="Lovelo"/>
                <a:ea typeface="Lovelo"/>
                <a:cs typeface="Lovelo"/>
                <a:sym typeface="Lovelo"/>
              </a:rPr>
              <a:t>Configuración de Oferta Académica</a:t>
            </a:r>
          </a:p>
        </p:txBody>
      </p:sp>
      <p:sp>
        <p:nvSpPr>
          <p:cNvPr name="TextBox 5" id="5"/>
          <p:cNvSpPr txBox="true"/>
          <p:nvPr/>
        </p:nvSpPr>
        <p:spPr>
          <a:xfrm rot="0">
            <a:off x="2987839" y="3684696"/>
            <a:ext cx="8754711" cy="1304925"/>
          </a:xfrm>
          <a:prstGeom prst="rect">
            <a:avLst/>
          </a:prstGeom>
        </p:spPr>
        <p:txBody>
          <a:bodyPr anchor="t" rtlCol="false" tIns="0" lIns="0" bIns="0" rIns="0">
            <a:spAutoFit/>
          </a:bodyPr>
          <a:lstStyle/>
          <a:p>
            <a:pPr algn="l">
              <a:lnSpc>
                <a:spcPts val="3450"/>
              </a:lnSpc>
              <a:spcBef>
                <a:spcPct val="0"/>
              </a:spcBef>
            </a:pPr>
            <a:r>
              <a:rPr lang="en-US" sz="2500" spc="92">
                <a:solidFill>
                  <a:srgbClr val="000000"/>
                </a:solidFill>
                <a:latin typeface="Sniglet"/>
                <a:ea typeface="Sniglet"/>
                <a:cs typeface="Sniglet"/>
                <a:sym typeface="Sniglet"/>
              </a:rPr>
              <a:t>Ge</a:t>
            </a:r>
            <a:r>
              <a:rPr lang="en-US" sz="2500" spc="92">
                <a:solidFill>
                  <a:srgbClr val="000000"/>
                </a:solidFill>
                <a:latin typeface="Sniglet"/>
                <a:ea typeface="Sniglet"/>
                <a:cs typeface="Sniglet"/>
                <a:sym typeface="Sniglet"/>
              </a:rPr>
              <a:t>stiona cursos, secciones, prerrequisitos y componentes de evaluación</a:t>
            </a:r>
          </a:p>
          <a:p>
            <a:pPr algn="l">
              <a:lnSpc>
                <a:spcPts val="3450"/>
              </a:lnSpc>
              <a:spcBef>
                <a:spcPct val="0"/>
              </a:spcBef>
            </a:pPr>
          </a:p>
        </p:txBody>
      </p:sp>
      <p:graphicFrame>
        <p:nvGraphicFramePr>
          <p:cNvPr name="Table 6" id="6"/>
          <p:cNvGraphicFramePr>
            <a:graphicFrameLocks noGrp="true"/>
          </p:cNvGraphicFramePr>
          <p:nvPr/>
        </p:nvGraphicFramePr>
        <p:xfrm>
          <a:off x="2987839" y="5545869"/>
          <a:ext cx="13623473" cy="2076450"/>
        </p:xfrm>
        <a:graphic>
          <a:graphicData uri="http://schemas.openxmlformats.org/drawingml/2006/table">
            <a:tbl>
              <a:tblPr/>
              <a:tblGrid>
                <a:gridCol w="3297312"/>
                <a:gridCol w="10326161"/>
              </a:tblGrid>
              <a:tr h="1038225">
                <a:tc>
                  <a:txBody>
                    <a:bodyPr anchor="t" rtlCol="false"/>
                    <a:lstStyle/>
                    <a:p>
                      <a:pPr algn="l">
                        <a:lnSpc>
                          <a:spcPts val="3359"/>
                        </a:lnSpc>
                        <a:defRPr/>
                      </a:pPr>
                      <a:r>
                        <a:rPr lang="en-US" sz="2399" b="true">
                          <a:solidFill>
                            <a:srgbClr val="000000"/>
                          </a:solidFill>
                          <a:latin typeface="Lovelo"/>
                          <a:ea typeface="Lovelo"/>
                          <a:cs typeface="Lovelo"/>
                          <a:sym typeface="Lovelo"/>
                        </a:rPr>
                        <a:t>RF-OFR-01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Lovelo"/>
                          <a:ea typeface="Lovelo"/>
                          <a:cs typeface="Lovelo"/>
                          <a:sym typeface="Lovelo"/>
                        </a:rPr>
                        <a:t>Gestión del plan de estudios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8225">
                <a:tc>
                  <a:txBody>
                    <a:bodyPr anchor="t" rtlCol="false"/>
                    <a:lstStyle/>
                    <a:p>
                      <a:pPr algn="l">
                        <a:lnSpc>
                          <a:spcPts val="3359"/>
                        </a:lnSpc>
                        <a:defRPr/>
                      </a:pPr>
                      <a:r>
                        <a:rPr lang="en-US" sz="2400">
                          <a:solidFill>
                            <a:srgbClr val="000000"/>
                          </a:solidFill>
                          <a:latin typeface="Lovelo"/>
                          <a:ea typeface="Lovelo"/>
                          <a:cs typeface="Lovelo"/>
                          <a:sym typeface="Lovelo"/>
                        </a:rPr>
                        <a:t>RF-OFR-05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Lovelo"/>
                          <a:ea typeface="Lovelo"/>
                          <a:cs typeface="Lovelo"/>
                          <a:sym typeface="Lovelo"/>
                        </a:rPr>
                        <a:t>Configuración de componentes de evaluación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987839" y="2356928"/>
            <a:ext cx="7508322" cy="505206"/>
          </a:xfrm>
          <a:prstGeom prst="rect">
            <a:avLst/>
          </a:prstGeom>
        </p:spPr>
        <p:txBody>
          <a:bodyPr anchor="t" rtlCol="false" tIns="0" lIns="0" bIns="0" rIns="0">
            <a:spAutoFit/>
          </a:bodyPr>
          <a:lstStyle/>
          <a:p>
            <a:pPr algn="ctr">
              <a:lnSpc>
                <a:spcPts val="4001"/>
              </a:lnSpc>
              <a:spcBef>
                <a:spcPct val="0"/>
              </a:spcBef>
            </a:pPr>
            <a:r>
              <a:rPr lang="en-US" sz="2899" spc="124">
                <a:solidFill>
                  <a:srgbClr val="000000"/>
                </a:solidFill>
                <a:latin typeface="Lovelo"/>
                <a:ea typeface="Lovelo"/>
                <a:cs typeface="Lovelo"/>
                <a:sym typeface="Lovelo"/>
              </a:rPr>
              <a:t>G</a:t>
            </a:r>
            <a:r>
              <a:rPr lang="en-US" sz="2899" spc="124">
                <a:solidFill>
                  <a:srgbClr val="000000"/>
                </a:solidFill>
                <a:latin typeface="Lovelo"/>
                <a:ea typeface="Lovelo"/>
                <a:cs typeface="Lovelo"/>
                <a:sym typeface="Lovelo"/>
              </a:rPr>
              <a:t>estión de Usuarios</a:t>
            </a:r>
          </a:p>
        </p:txBody>
      </p:sp>
      <p:sp>
        <p:nvSpPr>
          <p:cNvPr name="TextBox 5" id="5"/>
          <p:cNvSpPr txBox="true"/>
          <p:nvPr/>
        </p:nvSpPr>
        <p:spPr>
          <a:xfrm rot="0">
            <a:off x="2987839" y="3684696"/>
            <a:ext cx="8754711" cy="1304925"/>
          </a:xfrm>
          <a:prstGeom prst="rect">
            <a:avLst/>
          </a:prstGeom>
        </p:spPr>
        <p:txBody>
          <a:bodyPr anchor="t" rtlCol="false" tIns="0" lIns="0" bIns="0" rIns="0">
            <a:spAutoFit/>
          </a:bodyPr>
          <a:lstStyle/>
          <a:p>
            <a:pPr algn="l">
              <a:lnSpc>
                <a:spcPts val="3450"/>
              </a:lnSpc>
              <a:spcBef>
                <a:spcPct val="0"/>
              </a:spcBef>
            </a:pPr>
            <a:r>
              <a:rPr lang="en-US" sz="2500" spc="92">
                <a:solidFill>
                  <a:srgbClr val="000000"/>
                </a:solidFill>
                <a:latin typeface="Sniglet"/>
                <a:ea typeface="Sniglet"/>
                <a:cs typeface="Sniglet"/>
                <a:sym typeface="Sniglet"/>
              </a:rPr>
              <a:t>Admi</a:t>
            </a:r>
            <a:r>
              <a:rPr lang="en-US" sz="2500" spc="92">
                <a:solidFill>
                  <a:srgbClr val="000000"/>
                </a:solidFill>
                <a:latin typeface="Sniglet"/>
                <a:ea typeface="Sniglet"/>
                <a:cs typeface="Sniglet"/>
                <a:sym typeface="Sniglet"/>
              </a:rPr>
              <a:t>nistra autenticación, roles y permisos de alumnos, docentes y administradores.</a:t>
            </a:r>
          </a:p>
          <a:p>
            <a:pPr algn="l">
              <a:lnSpc>
                <a:spcPts val="3450"/>
              </a:lnSpc>
              <a:spcBef>
                <a:spcPct val="0"/>
              </a:spcBef>
            </a:pPr>
          </a:p>
        </p:txBody>
      </p:sp>
      <p:graphicFrame>
        <p:nvGraphicFramePr>
          <p:cNvPr name="Table 6" id="6"/>
          <p:cNvGraphicFramePr>
            <a:graphicFrameLocks noGrp="true"/>
          </p:cNvGraphicFramePr>
          <p:nvPr/>
        </p:nvGraphicFramePr>
        <p:xfrm>
          <a:off x="2987839" y="5545869"/>
          <a:ext cx="13623473" cy="2076450"/>
        </p:xfrm>
        <a:graphic>
          <a:graphicData uri="http://schemas.openxmlformats.org/drawingml/2006/table">
            <a:tbl>
              <a:tblPr/>
              <a:tblGrid>
                <a:gridCol w="3297312"/>
                <a:gridCol w="10326161"/>
              </a:tblGrid>
              <a:tr h="1038225">
                <a:tc>
                  <a:txBody>
                    <a:bodyPr anchor="t" rtlCol="false"/>
                    <a:lstStyle/>
                    <a:p>
                      <a:pPr algn="l">
                        <a:lnSpc>
                          <a:spcPts val="3359"/>
                        </a:lnSpc>
                        <a:defRPr/>
                      </a:pPr>
                      <a:r>
                        <a:rPr lang="en-US" sz="2399" b="true">
                          <a:solidFill>
                            <a:srgbClr val="000000"/>
                          </a:solidFill>
                          <a:latin typeface="Lovelo"/>
                          <a:ea typeface="Lovelo"/>
                          <a:cs typeface="Lovelo"/>
                          <a:sym typeface="Lovelo"/>
                        </a:rPr>
                        <a:t>RF-USR-01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Lovelo"/>
                          <a:ea typeface="Lovelo"/>
                          <a:cs typeface="Lovelo"/>
                          <a:sym typeface="Lovelo"/>
                        </a:rPr>
                        <a:t>Inicio de sesión por credenciales.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8225">
                <a:tc>
                  <a:txBody>
                    <a:bodyPr anchor="t" rtlCol="false"/>
                    <a:lstStyle/>
                    <a:p>
                      <a:pPr algn="l">
                        <a:lnSpc>
                          <a:spcPts val="3359"/>
                        </a:lnSpc>
                        <a:defRPr/>
                      </a:pPr>
                      <a:r>
                        <a:rPr lang="en-US" sz="2400">
                          <a:solidFill>
                            <a:srgbClr val="000000"/>
                          </a:solidFill>
                          <a:latin typeface="Lovelo"/>
                          <a:ea typeface="Lovelo"/>
                          <a:cs typeface="Lovelo"/>
                          <a:sym typeface="Lovelo"/>
                        </a:rPr>
                        <a:t>RF-USR-02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Lovelo"/>
                          <a:ea typeface="Lovelo"/>
                          <a:cs typeface="Lovelo"/>
                          <a:sym typeface="Lovelo"/>
                        </a:rPr>
                        <a:t>Control de acceso según rol y Tenant.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987839" y="2356928"/>
            <a:ext cx="7508322" cy="505206"/>
          </a:xfrm>
          <a:prstGeom prst="rect">
            <a:avLst/>
          </a:prstGeom>
        </p:spPr>
        <p:txBody>
          <a:bodyPr anchor="t" rtlCol="false" tIns="0" lIns="0" bIns="0" rIns="0">
            <a:spAutoFit/>
          </a:bodyPr>
          <a:lstStyle/>
          <a:p>
            <a:pPr algn="ctr">
              <a:lnSpc>
                <a:spcPts val="4001"/>
              </a:lnSpc>
              <a:spcBef>
                <a:spcPct val="0"/>
              </a:spcBef>
            </a:pPr>
            <a:r>
              <a:rPr lang="en-US" sz="2899" spc="124">
                <a:solidFill>
                  <a:srgbClr val="000000"/>
                </a:solidFill>
                <a:latin typeface="Lovelo"/>
                <a:ea typeface="Lovelo"/>
                <a:cs typeface="Lovelo"/>
                <a:sym typeface="Lovelo"/>
              </a:rPr>
              <a:t>Ma</a:t>
            </a:r>
            <a:r>
              <a:rPr lang="en-US" sz="2899" spc="124">
                <a:solidFill>
                  <a:srgbClr val="000000"/>
                </a:solidFill>
                <a:latin typeface="Lovelo"/>
                <a:ea typeface="Lovelo"/>
                <a:cs typeface="Lovelo"/>
                <a:sym typeface="Lovelo"/>
              </a:rPr>
              <a:t>trícula de Cursos</a:t>
            </a:r>
          </a:p>
        </p:txBody>
      </p:sp>
      <p:sp>
        <p:nvSpPr>
          <p:cNvPr name="TextBox 5" id="5"/>
          <p:cNvSpPr txBox="true"/>
          <p:nvPr/>
        </p:nvSpPr>
        <p:spPr>
          <a:xfrm rot="0">
            <a:off x="2987839" y="3684696"/>
            <a:ext cx="8754711" cy="866775"/>
          </a:xfrm>
          <a:prstGeom prst="rect">
            <a:avLst/>
          </a:prstGeom>
        </p:spPr>
        <p:txBody>
          <a:bodyPr anchor="t" rtlCol="false" tIns="0" lIns="0" bIns="0" rIns="0">
            <a:spAutoFit/>
          </a:bodyPr>
          <a:lstStyle/>
          <a:p>
            <a:pPr algn="l">
              <a:lnSpc>
                <a:spcPts val="3450"/>
              </a:lnSpc>
              <a:spcBef>
                <a:spcPct val="0"/>
              </a:spcBef>
            </a:pPr>
            <a:r>
              <a:rPr lang="en-US" sz="2500" spc="92">
                <a:solidFill>
                  <a:srgbClr val="000000"/>
                </a:solidFill>
                <a:latin typeface="Sniglet"/>
                <a:ea typeface="Sniglet"/>
                <a:cs typeface="Sniglet"/>
                <a:sym typeface="Sniglet"/>
              </a:rPr>
              <a:t>Permi</a:t>
            </a:r>
            <a:r>
              <a:rPr lang="en-US" sz="2500" spc="92">
                <a:solidFill>
                  <a:srgbClr val="000000"/>
                </a:solidFill>
                <a:latin typeface="Sniglet"/>
                <a:ea typeface="Sniglet"/>
                <a:cs typeface="Sniglet"/>
                <a:sym typeface="Sniglet"/>
              </a:rPr>
              <a:t>te al alumno inscribirse en cursos validando reglas académicas y disponibilidad.</a:t>
            </a:r>
          </a:p>
        </p:txBody>
      </p:sp>
      <p:graphicFrame>
        <p:nvGraphicFramePr>
          <p:cNvPr name="Table 6" id="6"/>
          <p:cNvGraphicFramePr>
            <a:graphicFrameLocks noGrp="true"/>
          </p:cNvGraphicFramePr>
          <p:nvPr/>
        </p:nvGraphicFramePr>
        <p:xfrm>
          <a:off x="2987839" y="5545869"/>
          <a:ext cx="13623473" cy="2076450"/>
        </p:xfrm>
        <a:graphic>
          <a:graphicData uri="http://schemas.openxmlformats.org/drawingml/2006/table">
            <a:tbl>
              <a:tblPr/>
              <a:tblGrid>
                <a:gridCol w="3297312"/>
                <a:gridCol w="10326161"/>
              </a:tblGrid>
              <a:tr h="1038225">
                <a:tc>
                  <a:txBody>
                    <a:bodyPr anchor="t" rtlCol="false"/>
                    <a:lstStyle/>
                    <a:p>
                      <a:pPr algn="l">
                        <a:lnSpc>
                          <a:spcPts val="3359"/>
                        </a:lnSpc>
                        <a:defRPr/>
                      </a:pPr>
                      <a:r>
                        <a:rPr lang="en-US" sz="2399" b="true">
                          <a:solidFill>
                            <a:srgbClr val="000000"/>
                          </a:solidFill>
                          <a:latin typeface="Lovelo"/>
                          <a:ea typeface="Lovelo"/>
                          <a:cs typeface="Lovelo"/>
                          <a:sym typeface="Lovelo"/>
                        </a:rPr>
                        <a:t>RF-MAT-02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Lovelo"/>
                          <a:ea typeface="Lovelo"/>
                          <a:cs typeface="Lovelo"/>
                          <a:sym typeface="Lovelo"/>
                        </a:rPr>
                        <a:t>Validación de vacantes y prerrequisitos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8225">
                <a:tc>
                  <a:txBody>
                    <a:bodyPr anchor="t" rtlCol="false"/>
                    <a:lstStyle/>
                    <a:p>
                      <a:pPr algn="l">
                        <a:lnSpc>
                          <a:spcPts val="3359"/>
                        </a:lnSpc>
                        <a:defRPr/>
                      </a:pPr>
                      <a:r>
                        <a:rPr lang="en-US" sz="2400">
                          <a:solidFill>
                            <a:srgbClr val="000000"/>
                          </a:solidFill>
                          <a:latin typeface="Lovelo"/>
                          <a:ea typeface="Lovelo"/>
                          <a:cs typeface="Lovelo"/>
                          <a:sym typeface="Lovelo"/>
                        </a:rPr>
                        <a:t>RF-MAT-05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Lovelo"/>
                          <a:ea typeface="Lovelo"/>
                          <a:cs typeface="Lovelo"/>
                          <a:sym typeface="Lovelo"/>
                        </a:rPr>
                        <a:t>Control de concurrencia en matrículas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987839" y="2356928"/>
            <a:ext cx="7508322" cy="505206"/>
          </a:xfrm>
          <a:prstGeom prst="rect">
            <a:avLst/>
          </a:prstGeom>
        </p:spPr>
        <p:txBody>
          <a:bodyPr anchor="t" rtlCol="false" tIns="0" lIns="0" bIns="0" rIns="0">
            <a:spAutoFit/>
          </a:bodyPr>
          <a:lstStyle/>
          <a:p>
            <a:pPr algn="ctr">
              <a:lnSpc>
                <a:spcPts val="4001"/>
              </a:lnSpc>
              <a:spcBef>
                <a:spcPct val="0"/>
              </a:spcBef>
            </a:pPr>
            <a:r>
              <a:rPr lang="en-US" sz="2899" spc="124">
                <a:solidFill>
                  <a:srgbClr val="000000"/>
                </a:solidFill>
                <a:latin typeface="Lovelo"/>
                <a:ea typeface="Lovelo"/>
                <a:cs typeface="Lovelo"/>
                <a:sym typeface="Lovelo"/>
              </a:rPr>
              <a:t>R</a:t>
            </a:r>
            <a:r>
              <a:rPr lang="en-US" sz="2899" spc="124">
                <a:solidFill>
                  <a:srgbClr val="000000"/>
                </a:solidFill>
                <a:latin typeface="Lovelo"/>
                <a:ea typeface="Lovelo"/>
                <a:cs typeface="Lovelo"/>
                <a:sym typeface="Lovelo"/>
              </a:rPr>
              <a:t>egistro de Calificaciones</a:t>
            </a:r>
          </a:p>
        </p:txBody>
      </p:sp>
      <p:sp>
        <p:nvSpPr>
          <p:cNvPr name="TextBox 5" id="5"/>
          <p:cNvSpPr txBox="true"/>
          <p:nvPr/>
        </p:nvSpPr>
        <p:spPr>
          <a:xfrm rot="0">
            <a:off x="2987839" y="3684696"/>
            <a:ext cx="8754711" cy="1304925"/>
          </a:xfrm>
          <a:prstGeom prst="rect">
            <a:avLst/>
          </a:prstGeom>
        </p:spPr>
        <p:txBody>
          <a:bodyPr anchor="t" rtlCol="false" tIns="0" lIns="0" bIns="0" rIns="0">
            <a:spAutoFit/>
          </a:bodyPr>
          <a:lstStyle/>
          <a:p>
            <a:pPr algn="l">
              <a:lnSpc>
                <a:spcPts val="3450"/>
              </a:lnSpc>
              <a:spcBef>
                <a:spcPct val="0"/>
              </a:spcBef>
            </a:pPr>
            <a:r>
              <a:rPr lang="en-US" sz="2500" spc="92">
                <a:solidFill>
                  <a:srgbClr val="000000"/>
                </a:solidFill>
                <a:latin typeface="Sniglet"/>
                <a:ea typeface="Sniglet"/>
                <a:cs typeface="Sniglet"/>
                <a:sym typeface="Sniglet"/>
              </a:rPr>
              <a:t>Ge</a:t>
            </a:r>
            <a:r>
              <a:rPr lang="en-US" sz="2500" spc="92">
                <a:solidFill>
                  <a:srgbClr val="000000"/>
                </a:solidFill>
                <a:latin typeface="Sniglet"/>
                <a:ea typeface="Sniglet"/>
                <a:cs typeface="Sniglet"/>
                <a:sym typeface="Sniglet"/>
              </a:rPr>
              <a:t>stiona el ingreso, publicación y cierre de notas por parte de los docentes</a:t>
            </a:r>
          </a:p>
          <a:p>
            <a:pPr algn="l">
              <a:lnSpc>
                <a:spcPts val="3450"/>
              </a:lnSpc>
              <a:spcBef>
                <a:spcPct val="0"/>
              </a:spcBef>
            </a:pPr>
          </a:p>
        </p:txBody>
      </p:sp>
      <p:graphicFrame>
        <p:nvGraphicFramePr>
          <p:cNvPr name="Table 6" id="6"/>
          <p:cNvGraphicFramePr>
            <a:graphicFrameLocks noGrp="true"/>
          </p:cNvGraphicFramePr>
          <p:nvPr/>
        </p:nvGraphicFramePr>
        <p:xfrm>
          <a:off x="2987839" y="5545869"/>
          <a:ext cx="13623473" cy="2076450"/>
        </p:xfrm>
        <a:graphic>
          <a:graphicData uri="http://schemas.openxmlformats.org/drawingml/2006/table">
            <a:tbl>
              <a:tblPr/>
              <a:tblGrid>
                <a:gridCol w="3297312"/>
                <a:gridCol w="10326161"/>
              </a:tblGrid>
              <a:tr h="1038225">
                <a:tc>
                  <a:txBody>
                    <a:bodyPr anchor="t" rtlCol="false"/>
                    <a:lstStyle/>
                    <a:p>
                      <a:pPr algn="l">
                        <a:lnSpc>
                          <a:spcPts val="3359"/>
                        </a:lnSpc>
                        <a:defRPr/>
                      </a:pPr>
                      <a:r>
                        <a:rPr lang="en-US" sz="2399" b="true">
                          <a:solidFill>
                            <a:srgbClr val="000000"/>
                          </a:solidFill>
                          <a:latin typeface="Lovelo"/>
                          <a:ea typeface="Lovelo"/>
                          <a:cs typeface="Lovelo"/>
                          <a:sym typeface="Lovelo"/>
                        </a:rPr>
                        <a:t>RF-NOT-02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Lovelo"/>
                          <a:ea typeface="Lovelo"/>
                          <a:cs typeface="Lovelo"/>
                          <a:sym typeface="Lovelo"/>
                        </a:rPr>
                        <a:t>Registro de notas por docente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8225">
                <a:tc>
                  <a:txBody>
                    <a:bodyPr anchor="t" rtlCol="false"/>
                    <a:lstStyle/>
                    <a:p>
                      <a:pPr algn="l">
                        <a:lnSpc>
                          <a:spcPts val="3359"/>
                        </a:lnSpc>
                        <a:defRPr/>
                      </a:pPr>
                      <a:r>
                        <a:rPr lang="en-US" sz="2400">
                          <a:solidFill>
                            <a:srgbClr val="000000"/>
                          </a:solidFill>
                          <a:latin typeface="Lovelo"/>
                          <a:ea typeface="Lovelo"/>
                          <a:cs typeface="Lovelo"/>
                          <a:sym typeface="Lovelo"/>
                        </a:rPr>
                        <a:t>RF-NOT-05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Lovelo"/>
                          <a:ea typeface="Lovelo"/>
                          <a:cs typeface="Lovelo"/>
                          <a:sym typeface="Lovelo"/>
                        </a:rPr>
                        <a:t>Cierre oficial de actas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987839" y="2356928"/>
            <a:ext cx="7508322" cy="505206"/>
          </a:xfrm>
          <a:prstGeom prst="rect">
            <a:avLst/>
          </a:prstGeom>
        </p:spPr>
        <p:txBody>
          <a:bodyPr anchor="t" rtlCol="false" tIns="0" lIns="0" bIns="0" rIns="0">
            <a:spAutoFit/>
          </a:bodyPr>
          <a:lstStyle/>
          <a:p>
            <a:pPr algn="ctr">
              <a:lnSpc>
                <a:spcPts val="4001"/>
              </a:lnSpc>
              <a:spcBef>
                <a:spcPct val="0"/>
              </a:spcBef>
            </a:pPr>
            <a:r>
              <a:rPr lang="en-US" sz="2899" spc="124">
                <a:solidFill>
                  <a:srgbClr val="000000"/>
                </a:solidFill>
                <a:latin typeface="Lovelo"/>
                <a:ea typeface="Lovelo"/>
                <a:cs typeface="Lovelo"/>
                <a:sym typeface="Lovelo"/>
              </a:rPr>
              <a:t>Cálculo</a:t>
            </a:r>
            <a:r>
              <a:rPr lang="en-US" sz="2899" spc="124">
                <a:solidFill>
                  <a:srgbClr val="000000"/>
                </a:solidFill>
                <a:latin typeface="Lovelo"/>
                <a:ea typeface="Lovelo"/>
                <a:cs typeface="Lovelo"/>
                <a:sym typeface="Lovelo"/>
              </a:rPr>
              <a:t> de Promedios</a:t>
            </a:r>
          </a:p>
        </p:txBody>
      </p:sp>
      <p:sp>
        <p:nvSpPr>
          <p:cNvPr name="TextBox 5" id="5"/>
          <p:cNvSpPr txBox="true"/>
          <p:nvPr/>
        </p:nvSpPr>
        <p:spPr>
          <a:xfrm rot="0">
            <a:off x="2987839" y="3684696"/>
            <a:ext cx="8754711" cy="1304925"/>
          </a:xfrm>
          <a:prstGeom prst="rect">
            <a:avLst/>
          </a:prstGeom>
        </p:spPr>
        <p:txBody>
          <a:bodyPr anchor="t" rtlCol="false" tIns="0" lIns="0" bIns="0" rIns="0">
            <a:spAutoFit/>
          </a:bodyPr>
          <a:lstStyle/>
          <a:p>
            <a:pPr algn="l">
              <a:lnSpc>
                <a:spcPts val="3450"/>
              </a:lnSpc>
              <a:spcBef>
                <a:spcPct val="0"/>
              </a:spcBef>
            </a:pPr>
            <a:r>
              <a:rPr lang="en-US" sz="2500" spc="92">
                <a:solidFill>
                  <a:srgbClr val="000000"/>
                </a:solidFill>
                <a:latin typeface="Sniglet"/>
                <a:ea typeface="Sniglet"/>
                <a:cs typeface="Sniglet"/>
                <a:sym typeface="Sniglet"/>
              </a:rPr>
              <a:t>Realiz</a:t>
            </a:r>
            <a:r>
              <a:rPr lang="en-US" sz="2500" spc="92">
                <a:solidFill>
                  <a:srgbClr val="000000"/>
                </a:solidFill>
                <a:latin typeface="Sniglet"/>
                <a:ea typeface="Sniglet"/>
                <a:cs typeface="Sniglet"/>
                <a:sym typeface="Sniglet"/>
              </a:rPr>
              <a:t>a el cálculo automático de promedios semestrales y acumulados.</a:t>
            </a:r>
          </a:p>
          <a:p>
            <a:pPr algn="l">
              <a:lnSpc>
                <a:spcPts val="3450"/>
              </a:lnSpc>
              <a:spcBef>
                <a:spcPct val="0"/>
              </a:spcBef>
            </a:pPr>
          </a:p>
        </p:txBody>
      </p:sp>
      <p:graphicFrame>
        <p:nvGraphicFramePr>
          <p:cNvPr name="Table 6" id="6"/>
          <p:cNvGraphicFramePr>
            <a:graphicFrameLocks noGrp="true"/>
          </p:cNvGraphicFramePr>
          <p:nvPr/>
        </p:nvGraphicFramePr>
        <p:xfrm>
          <a:off x="2987839" y="5545869"/>
          <a:ext cx="13623473" cy="2076450"/>
        </p:xfrm>
        <a:graphic>
          <a:graphicData uri="http://schemas.openxmlformats.org/drawingml/2006/table">
            <a:tbl>
              <a:tblPr/>
              <a:tblGrid>
                <a:gridCol w="3297312"/>
                <a:gridCol w="10326161"/>
              </a:tblGrid>
              <a:tr h="1038225">
                <a:tc>
                  <a:txBody>
                    <a:bodyPr anchor="t" rtlCol="false"/>
                    <a:lstStyle/>
                    <a:p>
                      <a:pPr algn="l">
                        <a:lnSpc>
                          <a:spcPts val="3359"/>
                        </a:lnSpc>
                        <a:defRPr/>
                      </a:pPr>
                      <a:r>
                        <a:rPr lang="en-US" sz="2399" b="true">
                          <a:solidFill>
                            <a:srgbClr val="000000"/>
                          </a:solidFill>
                          <a:latin typeface="Lovelo"/>
                          <a:ea typeface="Lovelo"/>
                          <a:cs typeface="Lovelo"/>
                          <a:sym typeface="Lovelo"/>
                        </a:rPr>
                        <a:t>RF-CAL-01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Lovelo"/>
                          <a:ea typeface="Lovelo"/>
                          <a:cs typeface="Lovelo"/>
                          <a:sym typeface="Lovelo"/>
                        </a:rPr>
                        <a:t>Cálculo automático de PPS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8225">
                <a:tc>
                  <a:txBody>
                    <a:bodyPr anchor="t" rtlCol="false"/>
                    <a:lstStyle/>
                    <a:p>
                      <a:pPr algn="l">
                        <a:lnSpc>
                          <a:spcPts val="3359"/>
                        </a:lnSpc>
                        <a:defRPr/>
                      </a:pPr>
                      <a:r>
                        <a:rPr lang="en-US" sz="2400">
                          <a:solidFill>
                            <a:srgbClr val="000000"/>
                          </a:solidFill>
                          <a:latin typeface="Lovelo"/>
                          <a:ea typeface="Lovelo"/>
                          <a:cs typeface="Lovelo"/>
                          <a:sym typeface="Lovelo"/>
                        </a:rPr>
                        <a:t>RF-CAL-02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Lovelo"/>
                          <a:ea typeface="Lovelo"/>
                          <a:cs typeface="Lovelo"/>
                          <a:sym typeface="Lovelo"/>
                        </a:rPr>
                        <a:t>Cálculo del PPA acumulado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987839" y="2356928"/>
            <a:ext cx="7508322" cy="505206"/>
          </a:xfrm>
          <a:prstGeom prst="rect">
            <a:avLst/>
          </a:prstGeom>
        </p:spPr>
        <p:txBody>
          <a:bodyPr anchor="t" rtlCol="false" tIns="0" lIns="0" bIns="0" rIns="0">
            <a:spAutoFit/>
          </a:bodyPr>
          <a:lstStyle/>
          <a:p>
            <a:pPr algn="ctr">
              <a:lnSpc>
                <a:spcPts val="4001"/>
              </a:lnSpc>
              <a:spcBef>
                <a:spcPct val="0"/>
              </a:spcBef>
            </a:pPr>
            <a:r>
              <a:rPr lang="en-US" sz="2899" spc="124">
                <a:solidFill>
                  <a:srgbClr val="000000"/>
                </a:solidFill>
                <a:latin typeface="Lovelo"/>
                <a:ea typeface="Lovelo"/>
                <a:cs typeface="Lovelo"/>
                <a:sym typeface="Lovelo"/>
              </a:rPr>
              <a:t>Hi</a:t>
            </a:r>
            <a:r>
              <a:rPr lang="en-US" sz="2899" spc="124">
                <a:solidFill>
                  <a:srgbClr val="000000"/>
                </a:solidFill>
                <a:latin typeface="Lovelo"/>
                <a:ea typeface="Lovelo"/>
                <a:cs typeface="Lovelo"/>
                <a:sym typeface="Lovelo"/>
              </a:rPr>
              <a:t>storial Académico</a:t>
            </a:r>
          </a:p>
        </p:txBody>
      </p:sp>
      <p:sp>
        <p:nvSpPr>
          <p:cNvPr name="TextBox 5" id="5"/>
          <p:cNvSpPr txBox="true"/>
          <p:nvPr/>
        </p:nvSpPr>
        <p:spPr>
          <a:xfrm rot="0">
            <a:off x="2987839" y="3684696"/>
            <a:ext cx="8754711" cy="866775"/>
          </a:xfrm>
          <a:prstGeom prst="rect">
            <a:avLst/>
          </a:prstGeom>
        </p:spPr>
        <p:txBody>
          <a:bodyPr anchor="t" rtlCol="false" tIns="0" lIns="0" bIns="0" rIns="0">
            <a:spAutoFit/>
          </a:bodyPr>
          <a:lstStyle/>
          <a:p>
            <a:pPr algn="l">
              <a:lnSpc>
                <a:spcPts val="3450"/>
              </a:lnSpc>
              <a:spcBef>
                <a:spcPct val="0"/>
              </a:spcBef>
            </a:pPr>
            <a:r>
              <a:rPr lang="en-US" sz="2500" spc="92">
                <a:solidFill>
                  <a:srgbClr val="000000"/>
                </a:solidFill>
                <a:latin typeface="Sniglet"/>
                <a:ea typeface="Sniglet"/>
                <a:cs typeface="Sniglet"/>
                <a:sym typeface="Sniglet"/>
              </a:rPr>
              <a:t>Permite co</a:t>
            </a:r>
            <a:r>
              <a:rPr lang="en-US" sz="2500" spc="92">
                <a:solidFill>
                  <a:srgbClr val="000000"/>
                </a:solidFill>
                <a:latin typeface="Sniglet"/>
                <a:ea typeface="Sniglet"/>
                <a:cs typeface="Sniglet"/>
                <a:sym typeface="Sniglet"/>
              </a:rPr>
              <a:t>nsultar el historial completo de desempeño académico del alumno.</a:t>
            </a:r>
          </a:p>
        </p:txBody>
      </p:sp>
      <p:graphicFrame>
        <p:nvGraphicFramePr>
          <p:cNvPr name="Table 6" id="6"/>
          <p:cNvGraphicFramePr>
            <a:graphicFrameLocks noGrp="true"/>
          </p:cNvGraphicFramePr>
          <p:nvPr/>
        </p:nvGraphicFramePr>
        <p:xfrm>
          <a:off x="2987839" y="5545869"/>
          <a:ext cx="13623473" cy="2076450"/>
        </p:xfrm>
        <a:graphic>
          <a:graphicData uri="http://schemas.openxmlformats.org/drawingml/2006/table">
            <a:tbl>
              <a:tblPr/>
              <a:tblGrid>
                <a:gridCol w="3297312"/>
                <a:gridCol w="10326161"/>
              </a:tblGrid>
              <a:tr h="1038225">
                <a:tc>
                  <a:txBody>
                    <a:bodyPr anchor="t" rtlCol="false"/>
                    <a:lstStyle/>
                    <a:p>
                      <a:pPr algn="l">
                        <a:lnSpc>
                          <a:spcPts val="3359"/>
                        </a:lnSpc>
                        <a:defRPr/>
                      </a:pPr>
                      <a:r>
                        <a:rPr lang="en-US" sz="2399" b="true">
                          <a:solidFill>
                            <a:srgbClr val="000000"/>
                          </a:solidFill>
                          <a:latin typeface="Lovelo"/>
                          <a:ea typeface="Lovelo"/>
                          <a:cs typeface="Lovelo"/>
                          <a:sym typeface="Lovelo"/>
                        </a:rPr>
                        <a:t>RF-HIS-01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Lovelo"/>
                          <a:ea typeface="Lovelo"/>
                          <a:cs typeface="Lovelo"/>
                          <a:sym typeface="Lovelo"/>
                        </a:rPr>
                        <a:t>Generación dinámica del historial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8225">
                <a:tc>
                  <a:txBody>
                    <a:bodyPr anchor="t" rtlCol="false"/>
                    <a:lstStyle/>
                    <a:p>
                      <a:pPr algn="l">
                        <a:lnSpc>
                          <a:spcPts val="3359"/>
                        </a:lnSpc>
                        <a:defRPr/>
                      </a:pPr>
                      <a:r>
                        <a:rPr lang="en-US" sz="2400">
                          <a:solidFill>
                            <a:srgbClr val="000000"/>
                          </a:solidFill>
                          <a:latin typeface="Lovelo"/>
                          <a:ea typeface="Lovelo"/>
                          <a:cs typeface="Lovelo"/>
                          <a:sym typeface="Lovelo"/>
                        </a:rPr>
                        <a:t>RF-HIS-02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Lovelo"/>
                          <a:ea typeface="Lovelo"/>
                          <a:cs typeface="Lovelo"/>
                          <a:sym typeface="Lovelo"/>
                        </a:rPr>
                        <a:t>Consulta completa del historial académico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987839" y="2356928"/>
            <a:ext cx="7508322" cy="505206"/>
          </a:xfrm>
          <a:prstGeom prst="rect">
            <a:avLst/>
          </a:prstGeom>
        </p:spPr>
        <p:txBody>
          <a:bodyPr anchor="t" rtlCol="false" tIns="0" lIns="0" bIns="0" rIns="0">
            <a:spAutoFit/>
          </a:bodyPr>
          <a:lstStyle/>
          <a:p>
            <a:pPr algn="ctr">
              <a:lnSpc>
                <a:spcPts val="4001"/>
              </a:lnSpc>
              <a:spcBef>
                <a:spcPct val="0"/>
              </a:spcBef>
            </a:pPr>
            <a:r>
              <a:rPr lang="en-US" sz="2899" spc="124">
                <a:solidFill>
                  <a:srgbClr val="000000"/>
                </a:solidFill>
                <a:latin typeface="Lovelo"/>
                <a:ea typeface="Lovelo"/>
                <a:cs typeface="Lovelo"/>
                <a:sym typeface="Lovelo"/>
              </a:rPr>
              <a:t>Rep</a:t>
            </a:r>
            <a:r>
              <a:rPr lang="en-US" sz="2899" spc="124">
                <a:solidFill>
                  <a:srgbClr val="000000"/>
                </a:solidFill>
                <a:latin typeface="Lovelo"/>
                <a:ea typeface="Lovelo"/>
                <a:cs typeface="Lovelo"/>
                <a:sym typeface="Lovelo"/>
              </a:rPr>
              <a:t>ortes</a:t>
            </a:r>
          </a:p>
        </p:txBody>
      </p:sp>
      <p:sp>
        <p:nvSpPr>
          <p:cNvPr name="TextBox 5" id="5"/>
          <p:cNvSpPr txBox="true"/>
          <p:nvPr/>
        </p:nvSpPr>
        <p:spPr>
          <a:xfrm rot="0">
            <a:off x="2987839" y="3684696"/>
            <a:ext cx="8754711" cy="866775"/>
          </a:xfrm>
          <a:prstGeom prst="rect">
            <a:avLst/>
          </a:prstGeom>
        </p:spPr>
        <p:txBody>
          <a:bodyPr anchor="t" rtlCol="false" tIns="0" lIns="0" bIns="0" rIns="0">
            <a:spAutoFit/>
          </a:bodyPr>
          <a:lstStyle/>
          <a:p>
            <a:pPr algn="l">
              <a:lnSpc>
                <a:spcPts val="3450"/>
              </a:lnSpc>
              <a:spcBef>
                <a:spcPct val="0"/>
              </a:spcBef>
            </a:pPr>
            <a:r>
              <a:rPr lang="en-US" sz="2500" spc="92">
                <a:solidFill>
                  <a:srgbClr val="000000"/>
                </a:solidFill>
                <a:latin typeface="Sniglet"/>
                <a:ea typeface="Sniglet"/>
                <a:cs typeface="Sniglet"/>
                <a:sym typeface="Sniglet"/>
              </a:rPr>
              <a:t>Ge</a:t>
            </a:r>
            <a:r>
              <a:rPr lang="en-US" sz="2500" spc="92">
                <a:solidFill>
                  <a:srgbClr val="000000"/>
                </a:solidFill>
                <a:latin typeface="Sniglet"/>
                <a:ea typeface="Sniglet"/>
                <a:cs typeface="Sniglet"/>
                <a:sym typeface="Sniglet"/>
              </a:rPr>
              <a:t>nera reportes y documentos oficiales en PDF sobre rendimiento académico</a:t>
            </a:r>
          </a:p>
        </p:txBody>
      </p:sp>
      <p:graphicFrame>
        <p:nvGraphicFramePr>
          <p:cNvPr name="Table 6" id="6"/>
          <p:cNvGraphicFramePr>
            <a:graphicFrameLocks noGrp="true"/>
          </p:cNvGraphicFramePr>
          <p:nvPr/>
        </p:nvGraphicFramePr>
        <p:xfrm>
          <a:off x="2987839" y="5545869"/>
          <a:ext cx="13623473" cy="2076450"/>
        </p:xfrm>
        <a:graphic>
          <a:graphicData uri="http://schemas.openxmlformats.org/drawingml/2006/table">
            <a:tbl>
              <a:tblPr/>
              <a:tblGrid>
                <a:gridCol w="3297312"/>
                <a:gridCol w="10326161"/>
              </a:tblGrid>
              <a:tr h="1038225">
                <a:tc>
                  <a:txBody>
                    <a:bodyPr anchor="t" rtlCol="false"/>
                    <a:lstStyle/>
                    <a:p>
                      <a:pPr algn="l">
                        <a:lnSpc>
                          <a:spcPts val="3359"/>
                        </a:lnSpc>
                        <a:defRPr/>
                      </a:pPr>
                      <a:r>
                        <a:rPr lang="en-US" sz="2399" b="true">
                          <a:solidFill>
                            <a:srgbClr val="000000"/>
                          </a:solidFill>
                          <a:latin typeface="Lovelo"/>
                          <a:ea typeface="Lovelo"/>
                          <a:cs typeface="Lovelo"/>
                          <a:sym typeface="Lovelo"/>
                        </a:rPr>
                        <a:t>RF-REP-01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Lovelo"/>
                          <a:ea typeface="Lovelo"/>
                          <a:cs typeface="Lovelo"/>
                          <a:sym typeface="Lovelo"/>
                        </a:rPr>
                        <a:t>Generación de récord de notas PDF</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8225">
                <a:tc>
                  <a:txBody>
                    <a:bodyPr anchor="t" rtlCol="false"/>
                    <a:lstStyle/>
                    <a:p>
                      <a:pPr algn="l">
                        <a:lnSpc>
                          <a:spcPts val="3359"/>
                        </a:lnSpc>
                        <a:defRPr/>
                      </a:pPr>
                      <a:r>
                        <a:rPr lang="en-US" sz="2400">
                          <a:solidFill>
                            <a:srgbClr val="000000"/>
                          </a:solidFill>
                          <a:latin typeface="Lovelo"/>
                          <a:ea typeface="Lovelo"/>
                          <a:cs typeface="Lovelo"/>
                          <a:sym typeface="Lovelo"/>
                        </a:rPr>
                        <a:t>RF-REP-03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Lovelo"/>
                          <a:ea typeface="Lovelo"/>
                          <a:cs typeface="Lovelo"/>
                          <a:sym typeface="Lovelo"/>
                        </a:rPr>
                        <a:t>Reportes consolidados institucionales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grpSp>
        <p:nvGrpSpPr>
          <p:cNvPr name="Group 2" id="2"/>
          <p:cNvGrpSpPr/>
          <p:nvPr/>
        </p:nvGrpSpPr>
        <p:grpSpPr>
          <a:xfrm rot="0">
            <a:off x="-648815" y="3146314"/>
            <a:ext cx="20835606" cy="4112733"/>
            <a:chOff x="0" y="0"/>
            <a:chExt cx="5487567" cy="1083189"/>
          </a:xfrm>
        </p:grpSpPr>
        <p:sp>
          <p:nvSpPr>
            <p:cNvPr name="Freeform 3" id="3"/>
            <p:cNvSpPr/>
            <p:nvPr/>
          </p:nvSpPr>
          <p:spPr>
            <a:xfrm flipH="false" flipV="false" rot="0">
              <a:off x="0" y="0"/>
              <a:ext cx="5487567" cy="1083189"/>
            </a:xfrm>
            <a:custGeom>
              <a:avLst/>
              <a:gdLst/>
              <a:ahLst/>
              <a:cxnLst/>
              <a:rect r="r" b="b" t="t" l="l"/>
              <a:pathLst>
                <a:path h="1083189" w="5487567">
                  <a:moveTo>
                    <a:pt x="0" y="0"/>
                  </a:moveTo>
                  <a:lnTo>
                    <a:pt x="5487567" y="0"/>
                  </a:lnTo>
                  <a:lnTo>
                    <a:pt x="5487567" y="1083189"/>
                  </a:lnTo>
                  <a:lnTo>
                    <a:pt x="0" y="1083189"/>
                  </a:lnTo>
                  <a:close/>
                </a:path>
              </a:pathLst>
            </a:custGeom>
            <a:solidFill>
              <a:srgbClr val="4E767D"/>
            </a:solidFill>
          </p:spPr>
        </p:sp>
        <p:sp>
          <p:nvSpPr>
            <p:cNvPr name="TextBox 4" id="4"/>
            <p:cNvSpPr txBox="true"/>
            <p:nvPr/>
          </p:nvSpPr>
          <p:spPr>
            <a:xfrm>
              <a:off x="0" y="-47625"/>
              <a:ext cx="5487567" cy="1130814"/>
            </a:xfrm>
            <a:prstGeom prst="rect">
              <a:avLst/>
            </a:prstGeom>
          </p:spPr>
          <p:txBody>
            <a:bodyPr anchor="ctr" rtlCol="false" tIns="50800" lIns="50800" bIns="50800" rIns="50800"/>
            <a:lstStyle/>
            <a:p>
              <a:pPr algn="ctr">
                <a:lnSpc>
                  <a:spcPts val="3174"/>
                </a:lnSpc>
              </a:pPr>
            </a:p>
          </p:txBody>
        </p:sp>
      </p:grpSp>
      <p:sp>
        <p:nvSpPr>
          <p:cNvPr name="TextBox 5" id="5"/>
          <p:cNvSpPr txBox="true"/>
          <p:nvPr/>
        </p:nvSpPr>
        <p:spPr>
          <a:xfrm rot="0">
            <a:off x="1491457" y="4021248"/>
            <a:ext cx="15400337" cy="3076575"/>
          </a:xfrm>
          <a:prstGeom prst="rect">
            <a:avLst/>
          </a:prstGeom>
        </p:spPr>
        <p:txBody>
          <a:bodyPr anchor="t" rtlCol="false" tIns="0" lIns="0" bIns="0" rIns="0">
            <a:spAutoFit/>
          </a:bodyPr>
          <a:lstStyle/>
          <a:p>
            <a:pPr algn="ctr" marL="0" indent="0" lvl="0">
              <a:lnSpc>
                <a:spcPts val="12120"/>
              </a:lnSpc>
              <a:spcBef>
                <a:spcPct val="0"/>
              </a:spcBef>
            </a:pPr>
            <a:r>
              <a:rPr lang="en-US" sz="10100" spc="-606">
                <a:solidFill>
                  <a:srgbClr val="F0F6F5"/>
                </a:solidFill>
                <a:latin typeface="Mokoto"/>
                <a:ea typeface="Mokoto"/>
                <a:cs typeface="Mokoto"/>
                <a:sym typeface="Mokoto"/>
              </a:rPr>
              <a:t>Requerimientos No funcionales </a:t>
            </a:r>
          </a:p>
        </p:txBody>
      </p:sp>
      <p:sp>
        <p:nvSpPr>
          <p:cNvPr name="Freeform 6" id="6"/>
          <p:cNvSpPr/>
          <p:nvPr/>
        </p:nvSpPr>
        <p:spPr>
          <a:xfrm flipH="true" flipV="false" rot="0">
            <a:off x="-3508757" y="-1064553"/>
            <a:ext cx="9751946" cy="2563471"/>
          </a:xfrm>
          <a:custGeom>
            <a:avLst/>
            <a:gdLst/>
            <a:ahLst/>
            <a:cxnLst/>
            <a:rect r="r" b="b" t="t" l="l"/>
            <a:pathLst>
              <a:path h="2563471" w="9751946">
                <a:moveTo>
                  <a:pt x="9751946" y="0"/>
                </a:moveTo>
                <a:lnTo>
                  <a:pt x="0" y="0"/>
                </a:lnTo>
                <a:lnTo>
                  <a:pt x="0" y="2563471"/>
                </a:lnTo>
                <a:lnTo>
                  <a:pt x="9751946" y="2563471"/>
                </a:lnTo>
                <a:lnTo>
                  <a:pt x="9751946" y="0"/>
                </a:lnTo>
                <a:close/>
              </a:path>
            </a:pathLst>
          </a:custGeom>
          <a:blipFill>
            <a:blip r:embed="rId2">
              <a:alphaModFix amt="38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14994293" y="8520479"/>
            <a:ext cx="9751946" cy="2563471"/>
          </a:xfrm>
          <a:custGeom>
            <a:avLst/>
            <a:gdLst/>
            <a:ahLst/>
            <a:cxnLst/>
            <a:rect r="r" b="b" t="t" l="l"/>
            <a:pathLst>
              <a:path h="2563471" w="9751946">
                <a:moveTo>
                  <a:pt x="9751945" y="0"/>
                </a:moveTo>
                <a:lnTo>
                  <a:pt x="0" y="0"/>
                </a:lnTo>
                <a:lnTo>
                  <a:pt x="0" y="2563471"/>
                </a:lnTo>
                <a:lnTo>
                  <a:pt x="9751945" y="2563471"/>
                </a:lnTo>
                <a:lnTo>
                  <a:pt x="9751945" y="0"/>
                </a:lnTo>
                <a:close/>
              </a:path>
            </a:pathLst>
          </a:custGeom>
          <a:blipFill>
            <a:blip r:embed="rId2">
              <a:alphaModFix amt="38000"/>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4" id="4"/>
          <p:cNvGraphicFramePr>
            <a:graphicFrameLocks noGrp="true"/>
          </p:cNvGraphicFramePr>
          <p:nvPr/>
        </p:nvGraphicFramePr>
        <p:xfrm>
          <a:off x="2987839" y="5545869"/>
          <a:ext cx="13623473" cy="1015673"/>
        </p:xfrm>
        <a:graphic>
          <a:graphicData uri="http://schemas.openxmlformats.org/drawingml/2006/table">
            <a:tbl>
              <a:tblPr/>
              <a:tblGrid>
                <a:gridCol w="3297312"/>
                <a:gridCol w="10326161"/>
              </a:tblGrid>
              <a:tr h="1015673">
                <a:tc>
                  <a:txBody>
                    <a:bodyPr anchor="t" rtlCol="false"/>
                    <a:lstStyle/>
                    <a:p>
                      <a:pPr algn="l">
                        <a:lnSpc>
                          <a:spcPts val="3359"/>
                        </a:lnSpc>
                        <a:defRPr/>
                      </a:pPr>
                      <a:r>
                        <a:rPr lang="en-US" sz="2399" b="true">
                          <a:solidFill>
                            <a:srgbClr val="000000"/>
                          </a:solidFill>
                          <a:latin typeface="Lovelo"/>
                          <a:ea typeface="Lovelo"/>
                          <a:cs typeface="Lovelo"/>
                          <a:sym typeface="Lovelo"/>
                        </a:rPr>
                        <a:t>RNF-REN-02: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Lovelo"/>
                          <a:ea typeface="Lovelo"/>
                          <a:cs typeface="Lovelo"/>
                          <a:sym typeface="Lovelo"/>
                        </a:rPr>
                        <a:t>Matrícula procesada en máximo 3 segundos.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5" id="5"/>
          <p:cNvSpPr txBox="true"/>
          <p:nvPr/>
        </p:nvSpPr>
        <p:spPr>
          <a:xfrm rot="0">
            <a:off x="2987839" y="2356928"/>
            <a:ext cx="7508322" cy="505206"/>
          </a:xfrm>
          <a:prstGeom prst="rect">
            <a:avLst/>
          </a:prstGeom>
        </p:spPr>
        <p:txBody>
          <a:bodyPr anchor="t" rtlCol="false" tIns="0" lIns="0" bIns="0" rIns="0">
            <a:spAutoFit/>
          </a:bodyPr>
          <a:lstStyle/>
          <a:p>
            <a:pPr algn="ctr">
              <a:lnSpc>
                <a:spcPts val="4001"/>
              </a:lnSpc>
              <a:spcBef>
                <a:spcPct val="0"/>
              </a:spcBef>
            </a:pPr>
            <a:r>
              <a:rPr lang="en-US" sz="2899" spc="124">
                <a:solidFill>
                  <a:srgbClr val="000000"/>
                </a:solidFill>
                <a:latin typeface="Lovelo"/>
                <a:ea typeface="Lovelo"/>
                <a:cs typeface="Lovelo"/>
                <a:sym typeface="Lovelo"/>
              </a:rPr>
              <a:t>R</a:t>
            </a:r>
            <a:r>
              <a:rPr lang="en-US" sz="2899" spc="124">
                <a:solidFill>
                  <a:srgbClr val="000000"/>
                </a:solidFill>
                <a:latin typeface="Lovelo"/>
                <a:ea typeface="Lovelo"/>
                <a:cs typeface="Lovelo"/>
                <a:sym typeface="Lovelo"/>
              </a:rPr>
              <a:t>endimiento</a:t>
            </a:r>
          </a:p>
        </p:txBody>
      </p:sp>
      <p:sp>
        <p:nvSpPr>
          <p:cNvPr name="TextBox 6" id="6"/>
          <p:cNvSpPr txBox="true"/>
          <p:nvPr/>
        </p:nvSpPr>
        <p:spPr>
          <a:xfrm rot="0">
            <a:off x="2987839" y="3684696"/>
            <a:ext cx="8754711" cy="866775"/>
          </a:xfrm>
          <a:prstGeom prst="rect">
            <a:avLst/>
          </a:prstGeom>
        </p:spPr>
        <p:txBody>
          <a:bodyPr anchor="t" rtlCol="false" tIns="0" lIns="0" bIns="0" rIns="0">
            <a:spAutoFit/>
          </a:bodyPr>
          <a:lstStyle/>
          <a:p>
            <a:pPr algn="l">
              <a:lnSpc>
                <a:spcPts val="3450"/>
              </a:lnSpc>
              <a:spcBef>
                <a:spcPct val="0"/>
              </a:spcBef>
            </a:pPr>
            <a:r>
              <a:rPr lang="en-US" sz="2500" spc="92">
                <a:solidFill>
                  <a:srgbClr val="000000"/>
                </a:solidFill>
                <a:latin typeface="Sniglet"/>
                <a:ea typeface="Sniglet"/>
                <a:cs typeface="Sniglet"/>
                <a:sym typeface="Sniglet"/>
              </a:rPr>
              <a:t>Defi</a:t>
            </a:r>
            <a:r>
              <a:rPr lang="en-US" sz="2500" spc="92">
                <a:solidFill>
                  <a:srgbClr val="000000"/>
                </a:solidFill>
                <a:latin typeface="Sniglet"/>
                <a:ea typeface="Sniglet"/>
                <a:cs typeface="Sniglet"/>
                <a:sym typeface="Sniglet"/>
              </a:rPr>
              <a:t>ne los tiempos de respuesta y velocidad de procesamiento del sistema.</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4" id="4"/>
          <p:cNvGraphicFramePr>
            <a:graphicFrameLocks noGrp="true"/>
          </p:cNvGraphicFramePr>
          <p:nvPr/>
        </p:nvGraphicFramePr>
        <p:xfrm>
          <a:off x="2987839" y="5545869"/>
          <a:ext cx="13623473" cy="1057275"/>
        </p:xfrm>
        <a:graphic>
          <a:graphicData uri="http://schemas.openxmlformats.org/drawingml/2006/table">
            <a:tbl>
              <a:tblPr/>
              <a:tblGrid>
                <a:gridCol w="3297312"/>
                <a:gridCol w="10326161"/>
              </a:tblGrid>
              <a:tr h="1057275">
                <a:tc>
                  <a:txBody>
                    <a:bodyPr anchor="t" rtlCol="false"/>
                    <a:lstStyle/>
                    <a:p>
                      <a:pPr algn="l">
                        <a:lnSpc>
                          <a:spcPts val="3359"/>
                        </a:lnSpc>
                        <a:defRPr/>
                      </a:pPr>
                      <a:r>
                        <a:rPr lang="en-US" sz="2399" b="true">
                          <a:solidFill>
                            <a:srgbClr val="000000"/>
                          </a:solidFill>
                          <a:latin typeface="Lovelo"/>
                          <a:ea typeface="Lovelo"/>
                          <a:cs typeface="Lovelo"/>
                          <a:sym typeface="Lovelo"/>
                        </a:rPr>
                        <a:t>RNF-ESC-01: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Lovelo"/>
                          <a:ea typeface="Lovelo"/>
                          <a:cs typeface="Lovelo"/>
                          <a:sym typeface="Lovelo"/>
                        </a:rPr>
                        <a:t>Soporte Multi-Tenant sin afectar otros Tenants.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5" id="5"/>
          <p:cNvSpPr txBox="true"/>
          <p:nvPr/>
        </p:nvSpPr>
        <p:spPr>
          <a:xfrm rot="0">
            <a:off x="2987839" y="2356928"/>
            <a:ext cx="7508322" cy="505206"/>
          </a:xfrm>
          <a:prstGeom prst="rect">
            <a:avLst/>
          </a:prstGeom>
        </p:spPr>
        <p:txBody>
          <a:bodyPr anchor="t" rtlCol="false" tIns="0" lIns="0" bIns="0" rIns="0">
            <a:spAutoFit/>
          </a:bodyPr>
          <a:lstStyle/>
          <a:p>
            <a:pPr algn="ctr">
              <a:lnSpc>
                <a:spcPts val="4001"/>
              </a:lnSpc>
              <a:spcBef>
                <a:spcPct val="0"/>
              </a:spcBef>
            </a:pPr>
            <a:r>
              <a:rPr lang="en-US" sz="2899" spc="124">
                <a:solidFill>
                  <a:srgbClr val="000000"/>
                </a:solidFill>
                <a:latin typeface="Lovelo"/>
                <a:ea typeface="Lovelo"/>
                <a:cs typeface="Lovelo"/>
                <a:sym typeface="Lovelo"/>
              </a:rPr>
              <a:t>Escalab</a:t>
            </a:r>
            <a:r>
              <a:rPr lang="en-US" sz="2899" spc="124">
                <a:solidFill>
                  <a:srgbClr val="000000"/>
                </a:solidFill>
                <a:latin typeface="Lovelo"/>
                <a:ea typeface="Lovelo"/>
                <a:cs typeface="Lovelo"/>
                <a:sym typeface="Lovelo"/>
              </a:rPr>
              <a:t>ilidad</a:t>
            </a:r>
          </a:p>
        </p:txBody>
      </p:sp>
      <p:sp>
        <p:nvSpPr>
          <p:cNvPr name="TextBox 6" id="6"/>
          <p:cNvSpPr txBox="true"/>
          <p:nvPr/>
        </p:nvSpPr>
        <p:spPr>
          <a:xfrm rot="0">
            <a:off x="2987839" y="3684696"/>
            <a:ext cx="8754711" cy="866775"/>
          </a:xfrm>
          <a:prstGeom prst="rect">
            <a:avLst/>
          </a:prstGeom>
        </p:spPr>
        <p:txBody>
          <a:bodyPr anchor="t" rtlCol="false" tIns="0" lIns="0" bIns="0" rIns="0">
            <a:spAutoFit/>
          </a:bodyPr>
          <a:lstStyle/>
          <a:p>
            <a:pPr algn="l">
              <a:lnSpc>
                <a:spcPts val="3450"/>
              </a:lnSpc>
              <a:spcBef>
                <a:spcPct val="0"/>
              </a:spcBef>
            </a:pPr>
            <a:r>
              <a:rPr lang="en-US" sz="2500" spc="92">
                <a:solidFill>
                  <a:srgbClr val="000000"/>
                </a:solidFill>
                <a:latin typeface="Sniglet"/>
                <a:ea typeface="Sniglet"/>
                <a:cs typeface="Sniglet"/>
                <a:sym typeface="Sniglet"/>
              </a:rPr>
              <a:t>Gara</a:t>
            </a:r>
            <a:r>
              <a:rPr lang="en-US" sz="2500" spc="92">
                <a:solidFill>
                  <a:srgbClr val="000000"/>
                </a:solidFill>
                <a:latin typeface="Sniglet"/>
                <a:ea typeface="Sniglet"/>
                <a:cs typeface="Sniglet"/>
                <a:sym typeface="Sniglet"/>
              </a:rPr>
              <a:t>ntiza que el sistema soporte más usuarios y Tenants sin perder rendimiento.</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987839" y="2356928"/>
            <a:ext cx="7508322" cy="505206"/>
          </a:xfrm>
          <a:prstGeom prst="rect">
            <a:avLst/>
          </a:prstGeom>
        </p:spPr>
        <p:txBody>
          <a:bodyPr anchor="t" rtlCol="false" tIns="0" lIns="0" bIns="0" rIns="0">
            <a:spAutoFit/>
          </a:bodyPr>
          <a:lstStyle/>
          <a:p>
            <a:pPr algn="ctr">
              <a:lnSpc>
                <a:spcPts val="4001"/>
              </a:lnSpc>
              <a:spcBef>
                <a:spcPct val="0"/>
              </a:spcBef>
            </a:pPr>
            <a:r>
              <a:rPr lang="en-US" sz="2899" spc="124">
                <a:solidFill>
                  <a:srgbClr val="000000"/>
                </a:solidFill>
                <a:latin typeface="Lovelo"/>
                <a:ea typeface="Lovelo"/>
                <a:cs typeface="Lovelo"/>
                <a:sym typeface="Lovelo"/>
              </a:rPr>
              <a:t>Dispo</a:t>
            </a:r>
            <a:r>
              <a:rPr lang="en-US" sz="2899" spc="124">
                <a:solidFill>
                  <a:srgbClr val="000000"/>
                </a:solidFill>
                <a:latin typeface="Lovelo"/>
                <a:ea typeface="Lovelo"/>
                <a:cs typeface="Lovelo"/>
                <a:sym typeface="Lovelo"/>
              </a:rPr>
              <a:t>nibilidad</a:t>
            </a:r>
          </a:p>
        </p:txBody>
      </p:sp>
      <p:sp>
        <p:nvSpPr>
          <p:cNvPr name="TextBox 5" id="5"/>
          <p:cNvSpPr txBox="true"/>
          <p:nvPr/>
        </p:nvSpPr>
        <p:spPr>
          <a:xfrm rot="0">
            <a:off x="2987839" y="3684696"/>
            <a:ext cx="8754711" cy="866775"/>
          </a:xfrm>
          <a:prstGeom prst="rect">
            <a:avLst/>
          </a:prstGeom>
        </p:spPr>
        <p:txBody>
          <a:bodyPr anchor="t" rtlCol="false" tIns="0" lIns="0" bIns="0" rIns="0">
            <a:spAutoFit/>
          </a:bodyPr>
          <a:lstStyle/>
          <a:p>
            <a:pPr algn="l">
              <a:lnSpc>
                <a:spcPts val="3450"/>
              </a:lnSpc>
              <a:spcBef>
                <a:spcPct val="0"/>
              </a:spcBef>
            </a:pPr>
            <a:r>
              <a:rPr lang="en-US" sz="2500" spc="92">
                <a:solidFill>
                  <a:srgbClr val="000000"/>
                </a:solidFill>
                <a:latin typeface="Sniglet"/>
                <a:ea typeface="Sniglet"/>
                <a:cs typeface="Sniglet"/>
                <a:sym typeface="Sniglet"/>
              </a:rPr>
              <a:t>A</a:t>
            </a:r>
            <a:r>
              <a:rPr lang="en-US" sz="2500" spc="92">
                <a:solidFill>
                  <a:srgbClr val="000000"/>
                </a:solidFill>
                <a:latin typeface="Sniglet"/>
                <a:ea typeface="Sniglet"/>
                <a:cs typeface="Sniglet"/>
                <a:sym typeface="Sniglet"/>
              </a:rPr>
              <a:t>segura que la plataforma permanezca operativa la mayor parte del tiempo.</a:t>
            </a:r>
          </a:p>
        </p:txBody>
      </p:sp>
      <p:graphicFrame>
        <p:nvGraphicFramePr>
          <p:cNvPr name="Table 6" id="6"/>
          <p:cNvGraphicFramePr>
            <a:graphicFrameLocks noGrp="true"/>
          </p:cNvGraphicFramePr>
          <p:nvPr/>
        </p:nvGraphicFramePr>
        <p:xfrm>
          <a:off x="2987839" y="5545869"/>
          <a:ext cx="13623473" cy="1015673"/>
        </p:xfrm>
        <a:graphic>
          <a:graphicData uri="http://schemas.openxmlformats.org/drawingml/2006/table">
            <a:tbl>
              <a:tblPr/>
              <a:tblGrid>
                <a:gridCol w="3297312"/>
                <a:gridCol w="10326161"/>
              </a:tblGrid>
              <a:tr h="1015673">
                <a:tc>
                  <a:txBody>
                    <a:bodyPr anchor="t" rtlCol="false"/>
                    <a:lstStyle/>
                    <a:p>
                      <a:pPr algn="l">
                        <a:lnSpc>
                          <a:spcPts val="3359"/>
                        </a:lnSpc>
                        <a:defRPr/>
                      </a:pPr>
                      <a:r>
                        <a:rPr lang="en-US" sz="2399" b="true">
                          <a:solidFill>
                            <a:srgbClr val="000000"/>
                          </a:solidFill>
                          <a:latin typeface="Lovelo"/>
                          <a:ea typeface="Lovelo"/>
                          <a:cs typeface="Lovelo"/>
                          <a:sym typeface="Lovelo"/>
                        </a:rPr>
                        <a:t>RNF-DIS-01: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b="true">
                          <a:solidFill>
                            <a:srgbClr val="000000"/>
                          </a:solidFill>
                          <a:latin typeface="Lovelo"/>
                          <a:ea typeface="Lovelo"/>
                          <a:cs typeface="Lovelo"/>
                          <a:sym typeface="Lovelo"/>
                        </a:rPr>
                        <a:t>Disponibilidad mínima del 99%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4" id="4"/>
          <p:cNvGraphicFramePr>
            <a:graphicFrameLocks noGrp="true"/>
          </p:cNvGraphicFramePr>
          <p:nvPr/>
        </p:nvGraphicFramePr>
        <p:xfrm>
          <a:off x="2987839" y="5545869"/>
          <a:ext cx="13623473" cy="2076450"/>
        </p:xfrm>
        <a:graphic>
          <a:graphicData uri="http://schemas.openxmlformats.org/drawingml/2006/table">
            <a:tbl>
              <a:tblPr/>
              <a:tblGrid>
                <a:gridCol w="3297312"/>
                <a:gridCol w="10326161"/>
              </a:tblGrid>
              <a:tr h="1038225">
                <a:tc>
                  <a:txBody>
                    <a:bodyPr anchor="t" rtlCol="false"/>
                    <a:lstStyle/>
                    <a:p>
                      <a:pPr algn="l">
                        <a:lnSpc>
                          <a:spcPts val="3359"/>
                        </a:lnSpc>
                        <a:defRPr/>
                      </a:pPr>
                      <a:r>
                        <a:rPr lang="en-US" sz="2399" b="true">
                          <a:solidFill>
                            <a:srgbClr val="000000"/>
                          </a:solidFill>
                          <a:latin typeface="Lovelo"/>
                          <a:ea typeface="Lovelo"/>
                          <a:cs typeface="Lovelo"/>
                          <a:sym typeface="Lovelo"/>
                        </a:rPr>
                        <a:t>RNF-SEG-03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Lovelo"/>
                          <a:ea typeface="Lovelo"/>
                          <a:cs typeface="Lovelo"/>
                          <a:sym typeface="Lovelo"/>
                        </a:rPr>
                        <a:t>acceso basado en roles (RBAC).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8225">
                <a:tc>
                  <a:txBody>
                    <a:bodyPr anchor="t" rtlCol="false"/>
                    <a:lstStyle/>
                    <a:p>
                      <a:pPr algn="l">
                        <a:lnSpc>
                          <a:spcPts val="3359"/>
                        </a:lnSpc>
                        <a:defRPr/>
                      </a:pPr>
                      <a:r>
                        <a:rPr lang="en-US" sz="2400">
                          <a:solidFill>
                            <a:srgbClr val="000000"/>
                          </a:solidFill>
                          <a:latin typeface="Lovelo"/>
                          <a:ea typeface="Lovelo"/>
                          <a:cs typeface="Lovelo"/>
                          <a:sym typeface="Lovelo"/>
                        </a:rPr>
                        <a:t>RNF-SEG-04: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Lovelo"/>
                          <a:ea typeface="Lovelo"/>
                          <a:cs typeface="Lovelo"/>
                          <a:sym typeface="Lovelo"/>
                        </a:rPr>
                        <a:t>Contraseñas cifradas.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5" id="5"/>
          <p:cNvSpPr txBox="true"/>
          <p:nvPr/>
        </p:nvSpPr>
        <p:spPr>
          <a:xfrm rot="0">
            <a:off x="2987839" y="2356928"/>
            <a:ext cx="7508322" cy="505206"/>
          </a:xfrm>
          <a:prstGeom prst="rect">
            <a:avLst/>
          </a:prstGeom>
        </p:spPr>
        <p:txBody>
          <a:bodyPr anchor="t" rtlCol="false" tIns="0" lIns="0" bIns="0" rIns="0">
            <a:spAutoFit/>
          </a:bodyPr>
          <a:lstStyle/>
          <a:p>
            <a:pPr algn="ctr">
              <a:lnSpc>
                <a:spcPts val="4001"/>
              </a:lnSpc>
              <a:spcBef>
                <a:spcPct val="0"/>
              </a:spcBef>
            </a:pPr>
            <a:r>
              <a:rPr lang="en-US" sz="2899" spc="124">
                <a:solidFill>
                  <a:srgbClr val="000000"/>
                </a:solidFill>
                <a:latin typeface="Lovelo"/>
                <a:ea typeface="Lovelo"/>
                <a:cs typeface="Lovelo"/>
                <a:sym typeface="Lovelo"/>
              </a:rPr>
              <a:t>Segur</a:t>
            </a:r>
            <a:r>
              <a:rPr lang="en-US" sz="2899" spc="124">
                <a:solidFill>
                  <a:srgbClr val="000000"/>
                </a:solidFill>
                <a:latin typeface="Lovelo"/>
                <a:ea typeface="Lovelo"/>
                <a:cs typeface="Lovelo"/>
                <a:sym typeface="Lovelo"/>
              </a:rPr>
              <a:t>idad</a:t>
            </a:r>
          </a:p>
        </p:txBody>
      </p:sp>
      <p:sp>
        <p:nvSpPr>
          <p:cNvPr name="TextBox 6" id="6"/>
          <p:cNvSpPr txBox="true"/>
          <p:nvPr/>
        </p:nvSpPr>
        <p:spPr>
          <a:xfrm rot="0">
            <a:off x="2987839" y="3684696"/>
            <a:ext cx="8754711" cy="866775"/>
          </a:xfrm>
          <a:prstGeom prst="rect">
            <a:avLst/>
          </a:prstGeom>
        </p:spPr>
        <p:txBody>
          <a:bodyPr anchor="t" rtlCol="false" tIns="0" lIns="0" bIns="0" rIns="0">
            <a:spAutoFit/>
          </a:bodyPr>
          <a:lstStyle/>
          <a:p>
            <a:pPr algn="l">
              <a:lnSpc>
                <a:spcPts val="3450"/>
              </a:lnSpc>
              <a:spcBef>
                <a:spcPct val="0"/>
              </a:spcBef>
            </a:pPr>
            <a:r>
              <a:rPr lang="en-US" sz="2500" spc="92">
                <a:solidFill>
                  <a:srgbClr val="000000"/>
                </a:solidFill>
                <a:latin typeface="Sniglet"/>
                <a:ea typeface="Sniglet"/>
                <a:cs typeface="Sniglet"/>
                <a:sym typeface="Sniglet"/>
              </a:rPr>
              <a:t>Pro</a:t>
            </a:r>
            <a:r>
              <a:rPr lang="en-US" sz="2500" spc="92">
                <a:solidFill>
                  <a:srgbClr val="000000"/>
                </a:solidFill>
                <a:latin typeface="Sniglet"/>
                <a:ea typeface="Sniglet"/>
                <a:cs typeface="Sniglet"/>
                <a:sym typeface="Sniglet"/>
              </a:rPr>
              <a:t>tege la información mediante autenticación, control de acceso y cifrado.</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4" id="4"/>
          <p:cNvGraphicFramePr>
            <a:graphicFrameLocks noGrp="true"/>
          </p:cNvGraphicFramePr>
          <p:nvPr/>
        </p:nvGraphicFramePr>
        <p:xfrm>
          <a:off x="2987839" y="5545869"/>
          <a:ext cx="13623473" cy="2076450"/>
        </p:xfrm>
        <a:graphic>
          <a:graphicData uri="http://schemas.openxmlformats.org/drawingml/2006/table">
            <a:tbl>
              <a:tblPr/>
              <a:tblGrid>
                <a:gridCol w="3297312"/>
                <a:gridCol w="10326161"/>
              </a:tblGrid>
              <a:tr h="1038225">
                <a:tc>
                  <a:txBody>
                    <a:bodyPr anchor="t" rtlCol="false"/>
                    <a:lstStyle/>
                    <a:p>
                      <a:pPr algn="l">
                        <a:lnSpc>
                          <a:spcPts val="3359"/>
                        </a:lnSpc>
                        <a:defRPr/>
                      </a:pPr>
                      <a:r>
                        <a:rPr lang="en-US" sz="2399" b="true">
                          <a:solidFill>
                            <a:srgbClr val="000000"/>
                          </a:solidFill>
                          <a:latin typeface="Lovelo"/>
                          <a:ea typeface="Lovelo"/>
                          <a:cs typeface="Lovelo"/>
                          <a:sym typeface="Lovelo"/>
                        </a:rPr>
                        <a:t>RNF-INT-01: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Lovelo"/>
                          <a:ea typeface="Lovelo"/>
                          <a:cs typeface="Lovelo"/>
                          <a:sym typeface="Lovelo"/>
                        </a:rPr>
                        <a:t>Transacciones atómicas.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8225">
                <a:tc>
                  <a:txBody>
                    <a:bodyPr anchor="t" rtlCol="false"/>
                    <a:lstStyle/>
                    <a:p>
                      <a:pPr algn="l">
                        <a:lnSpc>
                          <a:spcPts val="3359"/>
                        </a:lnSpc>
                        <a:defRPr/>
                      </a:pPr>
                      <a:r>
                        <a:rPr lang="en-US" sz="2400">
                          <a:solidFill>
                            <a:srgbClr val="000000"/>
                          </a:solidFill>
                          <a:latin typeface="Lovelo"/>
                          <a:ea typeface="Lovelo"/>
                          <a:cs typeface="Lovelo"/>
                          <a:sym typeface="Lovelo"/>
                        </a:rPr>
                        <a:t>RNF-INT-03: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Lovelo"/>
                          <a:ea typeface="Lovelo"/>
                          <a:cs typeface="Lovelo"/>
                          <a:sym typeface="Lovelo"/>
                        </a:rPr>
                        <a:t>Eventos inmutables.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5" id="5"/>
          <p:cNvSpPr txBox="true"/>
          <p:nvPr/>
        </p:nvSpPr>
        <p:spPr>
          <a:xfrm rot="0">
            <a:off x="2987839" y="2356928"/>
            <a:ext cx="7508322" cy="505206"/>
          </a:xfrm>
          <a:prstGeom prst="rect">
            <a:avLst/>
          </a:prstGeom>
        </p:spPr>
        <p:txBody>
          <a:bodyPr anchor="t" rtlCol="false" tIns="0" lIns="0" bIns="0" rIns="0">
            <a:spAutoFit/>
          </a:bodyPr>
          <a:lstStyle/>
          <a:p>
            <a:pPr algn="ctr">
              <a:lnSpc>
                <a:spcPts val="4001"/>
              </a:lnSpc>
              <a:spcBef>
                <a:spcPct val="0"/>
              </a:spcBef>
            </a:pPr>
            <a:r>
              <a:rPr lang="en-US" sz="2899" spc="124">
                <a:solidFill>
                  <a:srgbClr val="000000"/>
                </a:solidFill>
                <a:latin typeface="Lovelo"/>
                <a:ea typeface="Lovelo"/>
                <a:cs typeface="Lovelo"/>
                <a:sym typeface="Lovelo"/>
              </a:rPr>
              <a:t>Integr</a:t>
            </a:r>
            <a:r>
              <a:rPr lang="en-US" sz="2899" spc="124">
                <a:solidFill>
                  <a:srgbClr val="000000"/>
                </a:solidFill>
                <a:latin typeface="Lovelo"/>
                <a:ea typeface="Lovelo"/>
                <a:cs typeface="Lovelo"/>
                <a:sym typeface="Lovelo"/>
              </a:rPr>
              <a:t>idad</a:t>
            </a:r>
          </a:p>
        </p:txBody>
      </p:sp>
      <p:sp>
        <p:nvSpPr>
          <p:cNvPr name="TextBox 6" id="6"/>
          <p:cNvSpPr txBox="true"/>
          <p:nvPr/>
        </p:nvSpPr>
        <p:spPr>
          <a:xfrm rot="0">
            <a:off x="2987839" y="3684696"/>
            <a:ext cx="8754711" cy="866775"/>
          </a:xfrm>
          <a:prstGeom prst="rect">
            <a:avLst/>
          </a:prstGeom>
        </p:spPr>
        <p:txBody>
          <a:bodyPr anchor="t" rtlCol="false" tIns="0" lIns="0" bIns="0" rIns="0">
            <a:spAutoFit/>
          </a:bodyPr>
          <a:lstStyle/>
          <a:p>
            <a:pPr algn="l">
              <a:lnSpc>
                <a:spcPts val="3450"/>
              </a:lnSpc>
              <a:spcBef>
                <a:spcPct val="0"/>
              </a:spcBef>
            </a:pPr>
            <a:r>
              <a:rPr lang="en-US" sz="2500" spc="92">
                <a:solidFill>
                  <a:srgbClr val="000000"/>
                </a:solidFill>
                <a:latin typeface="Sniglet"/>
                <a:ea typeface="Sniglet"/>
                <a:cs typeface="Sniglet"/>
                <a:sym typeface="Sniglet"/>
              </a:rPr>
              <a:t>Gara</a:t>
            </a:r>
            <a:r>
              <a:rPr lang="en-US" sz="2500" spc="92">
                <a:solidFill>
                  <a:srgbClr val="000000"/>
                </a:solidFill>
                <a:latin typeface="Sniglet"/>
                <a:ea typeface="Sniglet"/>
                <a:cs typeface="Sniglet"/>
                <a:sym typeface="Sniglet"/>
              </a:rPr>
              <a:t>ntiza que los datos académicos sean correctos, coherentes e inmutables.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4" id="4"/>
          <p:cNvGraphicFramePr>
            <a:graphicFrameLocks noGrp="true"/>
          </p:cNvGraphicFramePr>
          <p:nvPr/>
        </p:nvGraphicFramePr>
        <p:xfrm>
          <a:off x="2987839" y="5545869"/>
          <a:ext cx="13623473" cy="1057275"/>
        </p:xfrm>
        <a:graphic>
          <a:graphicData uri="http://schemas.openxmlformats.org/drawingml/2006/table">
            <a:tbl>
              <a:tblPr/>
              <a:tblGrid>
                <a:gridCol w="3297312"/>
                <a:gridCol w="10326161"/>
              </a:tblGrid>
              <a:tr h="1057275">
                <a:tc>
                  <a:txBody>
                    <a:bodyPr anchor="t" rtlCol="false"/>
                    <a:lstStyle/>
                    <a:p>
                      <a:pPr algn="l">
                        <a:lnSpc>
                          <a:spcPts val="3359"/>
                        </a:lnSpc>
                        <a:defRPr/>
                      </a:pPr>
                      <a:r>
                        <a:rPr lang="en-US" sz="2399" b="true">
                          <a:solidFill>
                            <a:srgbClr val="000000"/>
                          </a:solidFill>
                          <a:latin typeface="Lovelo"/>
                          <a:ea typeface="Lovelo"/>
                          <a:cs typeface="Lovelo"/>
                          <a:sym typeface="Lovelo"/>
                        </a:rPr>
                        <a:t>RNF-USA-02: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Lovelo"/>
                          <a:ea typeface="Lovelo"/>
                          <a:cs typeface="Lovelo"/>
                          <a:sym typeface="Lovelo"/>
                        </a:rPr>
                        <a:t>Mensajes claros ante errores.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5" id="5"/>
          <p:cNvSpPr txBox="true"/>
          <p:nvPr/>
        </p:nvSpPr>
        <p:spPr>
          <a:xfrm rot="0">
            <a:off x="2987839" y="2356928"/>
            <a:ext cx="7508322" cy="505206"/>
          </a:xfrm>
          <a:prstGeom prst="rect">
            <a:avLst/>
          </a:prstGeom>
        </p:spPr>
        <p:txBody>
          <a:bodyPr anchor="t" rtlCol="false" tIns="0" lIns="0" bIns="0" rIns="0">
            <a:spAutoFit/>
          </a:bodyPr>
          <a:lstStyle/>
          <a:p>
            <a:pPr algn="ctr">
              <a:lnSpc>
                <a:spcPts val="4001"/>
              </a:lnSpc>
              <a:spcBef>
                <a:spcPct val="0"/>
              </a:spcBef>
            </a:pPr>
            <a:r>
              <a:rPr lang="en-US" sz="2899" spc="124">
                <a:solidFill>
                  <a:srgbClr val="000000"/>
                </a:solidFill>
                <a:latin typeface="Lovelo"/>
                <a:ea typeface="Lovelo"/>
                <a:cs typeface="Lovelo"/>
                <a:sym typeface="Lovelo"/>
              </a:rPr>
              <a:t>Usab</a:t>
            </a:r>
            <a:r>
              <a:rPr lang="en-US" sz="2899" spc="124">
                <a:solidFill>
                  <a:srgbClr val="000000"/>
                </a:solidFill>
                <a:latin typeface="Lovelo"/>
                <a:ea typeface="Lovelo"/>
                <a:cs typeface="Lovelo"/>
                <a:sym typeface="Lovelo"/>
              </a:rPr>
              <a:t>ilidad</a:t>
            </a:r>
          </a:p>
        </p:txBody>
      </p:sp>
      <p:sp>
        <p:nvSpPr>
          <p:cNvPr name="TextBox 6" id="6"/>
          <p:cNvSpPr txBox="true"/>
          <p:nvPr/>
        </p:nvSpPr>
        <p:spPr>
          <a:xfrm rot="0">
            <a:off x="2987839" y="3684696"/>
            <a:ext cx="8754711" cy="866775"/>
          </a:xfrm>
          <a:prstGeom prst="rect">
            <a:avLst/>
          </a:prstGeom>
        </p:spPr>
        <p:txBody>
          <a:bodyPr anchor="t" rtlCol="false" tIns="0" lIns="0" bIns="0" rIns="0">
            <a:spAutoFit/>
          </a:bodyPr>
          <a:lstStyle/>
          <a:p>
            <a:pPr algn="l">
              <a:lnSpc>
                <a:spcPts val="3450"/>
              </a:lnSpc>
              <a:spcBef>
                <a:spcPct val="0"/>
              </a:spcBef>
            </a:pPr>
            <a:r>
              <a:rPr lang="en-US" sz="2500" spc="92">
                <a:solidFill>
                  <a:srgbClr val="000000"/>
                </a:solidFill>
                <a:latin typeface="Sniglet"/>
                <a:ea typeface="Sniglet"/>
                <a:cs typeface="Sniglet"/>
                <a:sym typeface="Sniglet"/>
              </a:rPr>
              <a:t>Bu</a:t>
            </a:r>
            <a:r>
              <a:rPr lang="en-US" sz="2500" spc="92">
                <a:solidFill>
                  <a:srgbClr val="000000"/>
                </a:solidFill>
                <a:latin typeface="Sniglet"/>
                <a:ea typeface="Sniglet"/>
                <a:cs typeface="Sniglet"/>
                <a:sym typeface="Sniglet"/>
              </a:rPr>
              <a:t>sca que la plataforma sea fácil de usar y comprensible para los usuarios.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4" id="4"/>
          <p:cNvGraphicFramePr>
            <a:graphicFrameLocks noGrp="true"/>
          </p:cNvGraphicFramePr>
          <p:nvPr/>
        </p:nvGraphicFramePr>
        <p:xfrm>
          <a:off x="2987839" y="5545869"/>
          <a:ext cx="13623473" cy="2076450"/>
        </p:xfrm>
        <a:graphic>
          <a:graphicData uri="http://schemas.openxmlformats.org/drawingml/2006/table">
            <a:tbl>
              <a:tblPr/>
              <a:tblGrid>
                <a:gridCol w="3297312"/>
                <a:gridCol w="10326161"/>
              </a:tblGrid>
              <a:tr h="1038225">
                <a:tc>
                  <a:txBody>
                    <a:bodyPr anchor="t" rtlCol="false"/>
                    <a:lstStyle/>
                    <a:p>
                      <a:pPr algn="l">
                        <a:lnSpc>
                          <a:spcPts val="3359"/>
                        </a:lnSpc>
                        <a:defRPr/>
                      </a:pPr>
                      <a:r>
                        <a:rPr lang="en-US" sz="2399" b="true">
                          <a:solidFill>
                            <a:srgbClr val="000000"/>
                          </a:solidFill>
                          <a:latin typeface="Lovelo"/>
                          <a:ea typeface="Lovelo"/>
                          <a:cs typeface="Lovelo"/>
                          <a:sym typeface="Lovelo"/>
                        </a:rPr>
                        <a:t>RNF-MAN-01: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Lovelo"/>
                          <a:ea typeface="Lovelo"/>
                          <a:cs typeface="Lovelo"/>
                          <a:sym typeface="Lovelo"/>
                        </a:rPr>
                        <a:t>Arquitectura en capas.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8225">
                <a:tc>
                  <a:txBody>
                    <a:bodyPr anchor="t" rtlCol="false"/>
                    <a:lstStyle/>
                    <a:p>
                      <a:pPr algn="l">
                        <a:lnSpc>
                          <a:spcPts val="3359"/>
                        </a:lnSpc>
                        <a:defRPr/>
                      </a:pPr>
                      <a:r>
                        <a:rPr lang="en-US" sz="2400">
                          <a:solidFill>
                            <a:srgbClr val="000000"/>
                          </a:solidFill>
                          <a:latin typeface="Lovelo"/>
                          <a:ea typeface="Lovelo"/>
                          <a:cs typeface="Lovelo"/>
                          <a:sym typeface="Lovelo"/>
                        </a:rPr>
                        <a:t>RNF-MAN-03: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Lovelo"/>
                          <a:ea typeface="Lovelo"/>
                          <a:cs typeface="Lovelo"/>
                          <a:sym typeface="Lovelo"/>
                        </a:rPr>
                        <a:t>Cobertura mínima de pruebas automatizadas.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5" id="5"/>
          <p:cNvSpPr txBox="true"/>
          <p:nvPr/>
        </p:nvSpPr>
        <p:spPr>
          <a:xfrm rot="0">
            <a:off x="2987839" y="2356928"/>
            <a:ext cx="7508322" cy="505206"/>
          </a:xfrm>
          <a:prstGeom prst="rect">
            <a:avLst/>
          </a:prstGeom>
        </p:spPr>
        <p:txBody>
          <a:bodyPr anchor="t" rtlCol="false" tIns="0" lIns="0" bIns="0" rIns="0">
            <a:spAutoFit/>
          </a:bodyPr>
          <a:lstStyle/>
          <a:p>
            <a:pPr algn="ctr">
              <a:lnSpc>
                <a:spcPts val="4001"/>
              </a:lnSpc>
              <a:spcBef>
                <a:spcPct val="0"/>
              </a:spcBef>
            </a:pPr>
            <a:r>
              <a:rPr lang="en-US" sz="2899" spc="124">
                <a:solidFill>
                  <a:srgbClr val="000000"/>
                </a:solidFill>
                <a:latin typeface="Lovelo"/>
                <a:ea typeface="Lovelo"/>
                <a:cs typeface="Lovelo"/>
                <a:sym typeface="Lovelo"/>
              </a:rPr>
              <a:t>Mantenib</a:t>
            </a:r>
            <a:r>
              <a:rPr lang="en-US" sz="2899" spc="124">
                <a:solidFill>
                  <a:srgbClr val="000000"/>
                </a:solidFill>
                <a:latin typeface="Lovelo"/>
                <a:ea typeface="Lovelo"/>
                <a:cs typeface="Lovelo"/>
                <a:sym typeface="Lovelo"/>
              </a:rPr>
              <a:t>ilidad</a:t>
            </a:r>
          </a:p>
        </p:txBody>
      </p:sp>
      <p:sp>
        <p:nvSpPr>
          <p:cNvPr name="TextBox 6" id="6"/>
          <p:cNvSpPr txBox="true"/>
          <p:nvPr/>
        </p:nvSpPr>
        <p:spPr>
          <a:xfrm rot="0">
            <a:off x="2987839" y="3684696"/>
            <a:ext cx="8754711" cy="866775"/>
          </a:xfrm>
          <a:prstGeom prst="rect">
            <a:avLst/>
          </a:prstGeom>
        </p:spPr>
        <p:txBody>
          <a:bodyPr anchor="t" rtlCol="false" tIns="0" lIns="0" bIns="0" rIns="0">
            <a:spAutoFit/>
          </a:bodyPr>
          <a:lstStyle/>
          <a:p>
            <a:pPr algn="l">
              <a:lnSpc>
                <a:spcPts val="3450"/>
              </a:lnSpc>
              <a:spcBef>
                <a:spcPct val="0"/>
              </a:spcBef>
            </a:pPr>
            <a:r>
              <a:rPr lang="en-US" sz="2500" spc="92">
                <a:solidFill>
                  <a:srgbClr val="000000"/>
                </a:solidFill>
                <a:latin typeface="Sniglet"/>
                <a:ea typeface="Sniglet"/>
                <a:cs typeface="Sniglet"/>
                <a:sym typeface="Sniglet"/>
              </a:rPr>
              <a:t>Facil</a:t>
            </a:r>
            <a:r>
              <a:rPr lang="en-US" sz="2500" spc="92">
                <a:solidFill>
                  <a:srgbClr val="000000"/>
                </a:solidFill>
                <a:latin typeface="Sniglet"/>
                <a:ea typeface="Sniglet"/>
                <a:cs typeface="Sniglet"/>
                <a:sym typeface="Sniglet"/>
              </a:rPr>
              <a:t>ita la actualización, corrección y evolución del sistema.</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4" id="4"/>
          <p:cNvGraphicFramePr>
            <a:graphicFrameLocks noGrp="true"/>
          </p:cNvGraphicFramePr>
          <p:nvPr/>
        </p:nvGraphicFramePr>
        <p:xfrm>
          <a:off x="2987839" y="5545869"/>
          <a:ext cx="13623473" cy="2343150"/>
        </p:xfrm>
        <a:graphic>
          <a:graphicData uri="http://schemas.openxmlformats.org/drawingml/2006/table">
            <a:tbl>
              <a:tblPr/>
              <a:tblGrid>
                <a:gridCol w="3297312"/>
                <a:gridCol w="10326161"/>
              </a:tblGrid>
              <a:tr h="1301629">
                <a:tc>
                  <a:txBody>
                    <a:bodyPr anchor="t" rtlCol="false"/>
                    <a:lstStyle/>
                    <a:p>
                      <a:pPr algn="l">
                        <a:lnSpc>
                          <a:spcPts val="3359"/>
                        </a:lnSpc>
                        <a:defRPr/>
                      </a:pPr>
                      <a:r>
                        <a:rPr lang="en-US" sz="2399" b="true">
                          <a:solidFill>
                            <a:srgbClr val="000000"/>
                          </a:solidFill>
                          <a:latin typeface="Lovelo"/>
                          <a:ea typeface="Lovelo"/>
                          <a:cs typeface="Lovelo"/>
                          <a:sym typeface="Lovelo"/>
                        </a:rPr>
                        <a:t>RNF-AUD-01: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Lovelo"/>
                          <a:ea typeface="Lovelo"/>
                          <a:cs typeface="Lovelo"/>
                          <a:sym typeface="Lovelo"/>
                        </a:rPr>
                        <a:t>Registro completo de auditoría.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41521">
                <a:tc>
                  <a:txBody>
                    <a:bodyPr anchor="t" rtlCol="false"/>
                    <a:lstStyle/>
                    <a:p>
                      <a:pPr algn="l">
                        <a:lnSpc>
                          <a:spcPts val="3359"/>
                        </a:lnSpc>
                        <a:defRPr/>
                      </a:pPr>
                      <a:r>
                        <a:rPr lang="en-US" sz="2400">
                          <a:solidFill>
                            <a:srgbClr val="000000"/>
                          </a:solidFill>
                          <a:latin typeface="Lovelo"/>
                          <a:ea typeface="Lovelo"/>
                          <a:cs typeface="Lovelo"/>
                          <a:sym typeface="Lovelo"/>
                        </a:rPr>
                        <a:t>RNF-AUD-03: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Lovelo"/>
                          <a:ea typeface="Lovelo"/>
                          <a:cs typeface="Lovelo"/>
                          <a:sym typeface="Lovelo"/>
                        </a:rPr>
                        <a:t>Reconstrucción histórica del estado académico.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5" id="5"/>
          <p:cNvSpPr txBox="true"/>
          <p:nvPr/>
        </p:nvSpPr>
        <p:spPr>
          <a:xfrm rot="0">
            <a:off x="2987839" y="2356928"/>
            <a:ext cx="7508322" cy="505206"/>
          </a:xfrm>
          <a:prstGeom prst="rect">
            <a:avLst/>
          </a:prstGeom>
        </p:spPr>
        <p:txBody>
          <a:bodyPr anchor="t" rtlCol="false" tIns="0" lIns="0" bIns="0" rIns="0">
            <a:spAutoFit/>
          </a:bodyPr>
          <a:lstStyle/>
          <a:p>
            <a:pPr algn="ctr">
              <a:lnSpc>
                <a:spcPts val="4001"/>
              </a:lnSpc>
              <a:spcBef>
                <a:spcPct val="0"/>
              </a:spcBef>
            </a:pPr>
            <a:r>
              <a:rPr lang="en-US" sz="2899" spc="124">
                <a:solidFill>
                  <a:srgbClr val="000000"/>
                </a:solidFill>
                <a:latin typeface="Lovelo"/>
                <a:ea typeface="Lovelo"/>
                <a:cs typeface="Lovelo"/>
                <a:sym typeface="Lovelo"/>
              </a:rPr>
              <a:t>Auditabilidad y Trazab</a:t>
            </a:r>
            <a:r>
              <a:rPr lang="en-US" sz="2899" spc="124">
                <a:solidFill>
                  <a:srgbClr val="000000"/>
                </a:solidFill>
                <a:latin typeface="Lovelo"/>
                <a:ea typeface="Lovelo"/>
                <a:cs typeface="Lovelo"/>
                <a:sym typeface="Lovelo"/>
              </a:rPr>
              <a:t>ilidad</a:t>
            </a:r>
          </a:p>
        </p:txBody>
      </p:sp>
      <p:sp>
        <p:nvSpPr>
          <p:cNvPr name="TextBox 6" id="6"/>
          <p:cNvSpPr txBox="true"/>
          <p:nvPr/>
        </p:nvSpPr>
        <p:spPr>
          <a:xfrm rot="0">
            <a:off x="2987839" y="3684696"/>
            <a:ext cx="8754711" cy="866775"/>
          </a:xfrm>
          <a:prstGeom prst="rect">
            <a:avLst/>
          </a:prstGeom>
        </p:spPr>
        <p:txBody>
          <a:bodyPr anchor="t" rtlCol="false" tIns="0" lIns="0" bIns="0" rIns="0">
            <a:spAutoFit/>
          </a:bodyPr>
          <a:lstStyle/>
          <a:p>
            <a:pPr algn="l">
              <a:lnSpc>
                <a:spcPts val="3450"/>
              </a:lnSpc>
              <a:spcBef>
                <a:spcPct val="0"/>
              </a:spcBef>
            </a:pPr>
            <a:r>
              <a:rPr lang="en-US" sz="2500" spc="92">
                <a:solidFill>
                  <a:srgbClr val="000000"/>
                </a:solidFill>
                <a:latin typeface="Sniglet"/>
                <a:ea typeface="Sniglet"/>
                <a:cs typeface="Sniglet"/>
                <a:sym typeface="Sniglet"/>
              </a:rPr>
              <a:t>Permite reg</a:t>
            </a:r>
            <a:r>
              <a:rPr lang="en-US" sz="2500" spc="92">
                <a:solidFill>
                  <a:srgbClr val="000000"/>
                </a:solidFill>
                <a:latin typeface="Sniglet"/>
                <a:ea typeface="Sniglet"/>
                <a:cs typeface="Sniglet"/>
                <a:sym typeface="Sniglet"/>
              </a:rPr>
              <a:t>istrar y rastrear todas las operaciones importantes del sistema.</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4" id="4"/>
          <p:cNvGraphicFramePr>
            <a:graphicFrameLocks noGrp="true"/>
          </p:cNvGraphicFramePr>
          <p:nvPr/>
        </p:nvGraphicFramePr>
        <p:xfrm>
          <a:off x="2987839" y="5545869"/>
          <a:ext cx="13623473" cy="2076450"/>
        </p:xfrm>
        <a:graphic>
          <a:graphicData uri="http://schemas.openxmlformats.org/drawingml/2006/table">
            <a:tbl>
              <a:tblPr/>
              <a:tblGrid>
                <a:gridCol w="3297312"/>
                <a:gridCol w="10326161"/>
              </a:tblGrid>
              <a:tr h="1038225">
                <a:tc>
                  <a:txBody>
                    <a:bodyPr anchor="t" rtlCol="false"/>
                    <a:lstStyle/>
                    <a:p>
                      <a:pPr algn="l">
                        <a:lnSpc>
                          <a:spcPts val="3359"/>
                        </a:lnSpc>
                        <a:defRPr/>
                      </a:pPr>
                      <a:r>
                        <a:rPr lang="en-US" sz="2399" b="true">
                          <a:solidFill>
                            <a:srgbClr val="000000"/>
                          </a:solidFill>
                          <a:latin typeface="Lovelo"/>
                          <a:ea typeface="Lovelo"/>
                          <a:cs typeface="Lovelo"/>
                          <a:sym typeface="Lovelo"/>
                        </a:rPr>
                        <a:t>RNF-COM-01: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Lovelo"/>
                          <a:ea typeface="Lovelo"/>
                          <a:cs typeface="Lovelo"/>
                          <a:sym typeface="Lovelo"/>
                        </a:rPr>
                        <a:t>Compatibilidad con navegadores modernos.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8225">
                <a:tc>
                  <a:txBody>
                    <a:bodyPr anchor="t" rtlCol="false"/>
                    <a:lstStyle/>
                    <a:p>
                      <a:pPr algn="l">
                        <a:lnSpc>
                          <a:spcPts val="3359"/>
                        </a:lnSpc>
                        <a:defRPr/>
                      </a:pPr>
                      <a:r>
                        <a:rPr lang="en-US" sz="2400">
                          <a:solidFill>
                            <a:srgbClr val="000000"/>
                          </a:solidFill>
                          <a:latin typeface="Lovelo"/>
                          <a:ea typeface="Lovelo"/>
                          <a:cs typeface="Lovelo"/>
                          <a:sym typeface="Lovelo"/>
                        </a:rPr>
                        <a:t>RNF-COM-03: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Lovelo"/>
                          <a:ea typeface="Lovelo"/>
                          <a:cs typeface="Lovelo"/>
                          <a:sym typeface="Lovelo"/>
                        </a:rPr>
                        <a:t>Despliegue mediante contenedores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5" id="5"/>
          <p:cNvSpPr txBox="true"/>
          <p:nvPr/>
        </p:nvSpPr>
        <p:spPr>
          <a:xfrm rot="0">
            <a:off x="2987839" y="2356928"/>
            <a:ext cx="7508322" cy="505206"/>
          </a:xfrm>
          <a:prstGeom prst="rect">
            <a:avLst/>
          </a:prstGeom>
        </p:spPr>
        <p:txBody>
          <a:bodyPr anchor="t" rtlCol="false" tIns="0" lIns="0" bIns="0" rIns="0">
            <a:spAutoFit/>
          </a:bodyPr>
          <a:lstStyle/>
          <a:p>
            <a:pPr algn="ctr">
              <a:lnSpc>
                <a:spcPts val="4001"/>
              </a:lnSpc>
              <a:spcBef>
                <a:spcPct val="0"/>
              </a:spcBef>
            </a:pPr>
            <a:r>
              <a:rPr lang="en-US" sz="2899" spc="124">
                <a:solidFill>
                  <a:srgbClr val="000000"/>
                </a:solidFill>
                <a:latin typeface="Lovelo"/>
                <a:ea typeface="Lovelo"/>
                <a:cs typeface="Lovelo"/>
                <a:sym typeface="Lovelo"/>
              </a:rPr>
              <a:t>Compatibilidad y Portab</a:t>
            </a:r>
            <a:r>
              <a:rPr lang="en-US" sz="2899" spc="124">
                <a:solidFill>
                  <a:srgbClr val="000000"/>
                </a:solidFill>
                <a:latin typeface="Lovelo"/>
                <a:ea typeface="Lovelo"/>
                <a:cs typeface="Lovelo"/>
                <a:sym typeface="Lovelo"/>
              </a:rPr>
              <a:t>ilidad</a:t>
            </a:r>
          </a:p>
        </p:txBody>
      </p:sp>
      <p:sp>
        <p:nvSpPr>
          <p:cNvPr name="TextBox 6" id="6"/>
          <p:cNvSpPr txBox="true"/>
          <p:nvPr/>
        </p:nvSpPr>
        <p:spPr>
          <a:xfrm rot="0">
            <a:off x="2987839" y="3684696"/>
            <a:ext cx="8754711" cy="866775"/>
          </a:xfrm>
          <a:prstGeom prst="rect">
            <a:avLst/>
          </a:prstGeom>
        </p:spPr>
        <p:txBody>
          <a:bodyPr anchor="t" rtlCol="false" tIns="0" lIns="0" bIns="0" rIns="0">
            <a:spAutoFit/>
          </a:bodyPr>
          <a:lstStyle/>
          <a:p>
            <a:pPr algn="l">
              <a:lnSpc>
                <a:spcPts val="3450"/>
              </a:lnSpc>
              <a:spcBef>
                <a:spcPct val="0"/>
              </a:spcBef>
            </a:pPr>
            <a:r>
              <a:rPr lang="en-US" sz="2500" spc="92">
                <a:solidFill>
                  <a:srgbClr val="000000"/>
                </a:solidFill>
                <a:latin typeface="Sniglet"/>
                <a:ea typeface="Sniglet"/>
                <a:cs typeface="Sniglet"/>
                <a:sym typeface="Sniglet"/>
              </a:rPr>
              <a:t>Ga</a:t>
            </a:r>
            <a:r>
              <a:rPr lang="en-US" sz="2500" spc="92">
                <a:solidFill>
                  <a:srgbClr val="000000"/>
                </a:solidFill>
                <a:latin typeface="Sniglet"/>
                <a:ea typeface="Sniglet"/>
                <a:cs typeface="Sniglet"/>
                <a:sym typeface="Sniglet"/>
              </a:rPr>
              <a:t>rantiza funcionamiento en distintos navegadores y entornos de despliegue.</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4" id="4"/>
          <p:cNvGraphicFramePr>
            <a:graphicFrameLocks noGrp="true"/>
          </p:cNvGraphicFramePr>
          <p:nvPr/>
        </p:nvGraphicFramePr>
        <p:xfrm>
          <a:off x="2987839" y="5545869"/>
          <a:ext cx="13623473" cy="2076450"/>
        </p:xfrm>
        <a:graphic>
          <a:graphicData uri="http://schemas.openxmlformats.org/drawingml/2006/table">
            <a:tbl>
              <a:tblPr/>
              <a:tblGrid>
                <a:gridCol w="3297312"/>
                <a:gridCol w="10326161"/>
              </a:tblGrid>
              <a:tr h="1038225">
                <a:tc>
                  <a:txBody>
                    <a:bodyPr anchor="t" rtlCol="false"/>
                    <a:lstStyle/>
                    <a:p>
                      <a:pPr algn="l">
                        <a:lnSpc>
                          <a:spcPts val="3359"/>
                        </a:lnSpc>
                        <a:defRPr/>
                      </a:pPr>
                      <a:r>
                        <a:rPr lang="en-US" sz="2399" b="true">
                          <a:solidFill>
                            <a:srgbClr val="000000"/>
                          </a:solidFill>
                          <a:latin typeface="Lovelo"/>
                          <a:ea typeface="Lovelo"/>
                          <a:cs typeface="Lovelo"/>
                          <a:sym typeface="Lovelo"/>
                        </a:rPr>
                        <a:t>RNF-NOR-02: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Lovelo"/>
                          <a:ea typeface="Lovelo"/>
                          <a:cs typeface="Lovelo"/>
                          <a:sym typeface="Lovelo"/>
                        </a:rPr>
                        <a:t>Aislamiento total entre Tenants.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8225">
                <a:tc>
                  <a:txBody>
                    <a:bodyPr anchor="t" rtlCol="false"/>
                    <a:lstStyle/>
                    <a:p>
                      <a:pPr algn="l">
                        <a:lnSpc>
                          <a:spcPts val="3359"/>
                        </a:lnSpc>
                        <a:defRPr/>
                      </a:pPr>
                      <a:r>
                        <a:rPr lang="en-US" sz="2400">
                          <a:solidFill>
                            <a:srgbClr val="000000"/>
                          </a:solidFill>
                          <a:latin typeface="Lovelo"/>
                          <a:ea typeface="Lovelo"/>
                          <a:cs typeface="Lovelo"/>
                          <a:sym typeface="Lovelo"/>
                        </a:rPr>
                        <a:t>RNF-NOR-05: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Lovelo"/>
                          <a:ea typeface="Lovelo"/>
                          <a:cs typeface="Lovelo"/>
                          <a:sym typeface="Lovelo"/>
                        </a:rPr>
                        <a:t>Retención de auditoría mínima de 5 años.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5" id="5"/>
          <p:cNvSpPr txBox="true"/>
          <p:nvPr/>
        </p:nvSpPr>
        <p:spPr>
          <a:xfrm rot="0">
            <a:off x="2987839" y="2356928"/>
            <a:ext cx="7508322" cy="505206"/>
          </a:xfrm>
          <a:prstGeom prst="rect">
            <a:avLst/>
          </a:prstGeom>
        </p:spPr>
        <p:txBody>
          <a:bodyPr anchor="t" rtlCol="false" tIns="0" lIns="0" bIns="0" rIns="0">
            <a:spAutoFit/>
          </a:bodyPr>
          <a:lstStyle/>
          <a:p>
            <a:pPr algn="ctr">
              <a:lnSpc>
                <a:spcPts val="4001"/>
              </a:lnSpc>
              <a:spcBef>
                <a:spcPct val="0"/>
              </a:spcBef>
            </a:pPr>
            <a:r>
              <a:rPr lang="en-US" sz="2899" spc="124">
                <a:solidFill>
                  <a:srgbClr val="000000"/>
                </a:solidFill>
                <a:latin typeface="Lovelo"/>
                <a:ea typeface="Lovelo"/>
                <a:cs typeface="Lovelo"/>
                <a:sym typeface="Lovelo"/>
              </a:rPr>
              <a:t>Cumplimiento Normat</a:t>
            </a:r>
            <a:r>
              <a:rPr lang="en-US" sz="2899" spc="124">
                <a:solidFill>
                  <a:srgbClr val="000000"/>
                </a:solidFill>
                <a:latin typeface="Lovelo"/>
                <a:ea typeface="Lovelo"/>
                <a:cs typeface="Lovelo"/>
                <a:sym typeface="Lovelo"/>
              </a:rPr>
              <a:t>ivo</a:t>
            </a:r>
          </a:p>
        </p:txBody>
      </p:sp>
      <p:sp>
        <p:nvSpPr>
          <p:cNvPr name="TextBox 6" id="6"/>
          <p:cNvSpPr txBox="true"/>
          <p:nvPr/>
        </p:nvSpPr>
        <p:spPr>
          <a:xfrm rot="0">
            <a:off x="2987839" y="3684696"/>
            <a:ext cx="8754711" cy="866775"/>
          </a:xfrm>
          <a:prstGeom prst="rect">
            <a:avLst/>
          </a:prstGeom>
        </p:spPr>
        <p:txBody>
          <a:bodyPr anchor="t" rtlCol="false" tIns="0" lIns="0" bIns="0" rIns="0">
            <a:spAutoFit/>
          </a:bodyPr>
          <a:lstStyle/>
          <a:p>
            <a:pPr algn="l">
              <a:lnSpc>
                <a:spcPts val="3450"/>
              </a:lnSpc>
              <a:spcBef>
                <a:spcPct val="0"/>
              </a:spcBef>
            </a:pPr>
            <a:r>
              <a:rPr lang="en-US" sz="2500" spc="92">
                <a:solidFill>
                  <a:srgbClr val="000000"/>
                </a:solidFill>
                <a:latin typeface="Sniglet"/>
                <a:ea typeface="Sniglet"/>
                <a:cs typeface="Sniglet"/>
                <a:sym typeface="Sniglet"/>
              </a:rPr>
              <a:t>A</a:t>
            </a:r>
            <a:r>
              <a:rPr lang="en-US" sz="2500" spc="92">
                <a:solidFill>
                  <a:srgbClr val="000000"/>
                </a:solidFill>
                <a:latin typeface="Sniglet"/>
                <a:ea typeface="Sniglet"/>
                <a:cs typeface="Sniglet"/>
                <a:sym typeface="Sniglet"/>
              </a:rPr>
              <a:t>segura el cumplimiento de normas de protección y manejo de datos académicos.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grpSp>
        <p:nvGrpSpPr>
          <p:cNvPr name="Group 2" id="2"/>
          <p:cNvGrpSpPr/>
          <p:nvPr/>
        </p:nvGrpSpPr>
        <p:grpSpPr>
          <a:xfrm rot="0">
            <a:off x="-792860" y="3386791"/>
            <a:ext cx="20835606" cy="3716155"/>
            <a:chOff x="0" y="0"/>
            <a:chExt cx="5487567" cy="978740"/>
          </a:xfrm>
        </p:grpSpPr>
        <p:sp>
          <p:nvSpPr>
            <p:cNvPr name="Freeform 3" id="3"/>
            <p:cNvSpPr/>
            <p:nvPr/>
          </p:nvSpPr>
          <p:spPr>
            <a:xfrm flipH="false" flipV="false" rot="0">
              <a:off x="0" y="0"/>
              <a:ext cx="5487567" cy="978740"/>
            </a:xfrm>
            <a:custGeom>
              <a:avLst/>
              <a:gdLst/>
              <a:ahLst/>
              <a:cxnLst/>
              <a:rect r="r" b="b" t="t" l="l"/>
              <a:pathLst>
                <a:path h="978740" w="5487567">
                  <a:moveTo>
                    <a:pt x="0" y="0"/>
                  </a:moveTo>
                  <a:lnTo>
                    <a:pt x="5487567" y="0"/>
                  </a:lnTo>
                  <a:lnTo>
                    <a:pt x="5487567" y="978740"/>
                  </a:lnTo>
                  <a:lnTo>
                    <a:pt x="0" y="978740"/>
                  </a:lnTo>
                  <a:close/>
                </a:path>
              </a:pathLst>
            </a:custGeom>
            <a:solidFill>
              <a:srgbClr val="4E767D"/>
            </a:solidFill>
          </p:spPr>
        </p:sp>
        <p:sp>
          <p:nvSpPr>
            <p:cNvPr name="TextBox 4" id="4"/>
            <p:cNvSpPr txBox="true"/>
            <p:nvPr/>
          </p:nvSpPr>
          <p:spPr>
            <a:xfrm>
              <a:off x="0" y="-47625"/>
              <a:ext cx="5487567" cy="1026365"/>
            </a:xfrm>
            <a:prstGeom prst="rect">
              <a:avLst/>
            </a:prstGeom>
          </p:spPr>
          <p:txBody>
            <a:bodyPr anchor="ctr" rtlCol="false" tIns="50800" lIns="50800" bIns="50800" rIns="50800"/>
            <a:lstStyle/>
            <a:p>
              <a:pPr algn="ctr">
                <a:lnSpc>
                  <a:spcPts val="3174"/>
                </a:lnSpc>
              </a:pPr>
            </a:p>
          </p:txBody>
        </p:sp>
      </p:grpSp>
      <p:sp>
        <p:nvSpPr>
          <p:cNvPr name="TextBox 5" id="5"/>
          <p:cNvSpPr txBox="true"/>
          <p:nvPr/>
        </p:nvSpPr>
        <p:spPr>
          <a:xfrm rot="0">
            <a:off x="1491457" y="4015154"/>
            <a:ext cx="15400337" cy="2524125"/>
          </a:xfrm>
          <a:prstGeom prst="rect">
            <a:avLst/>
          </a:prstGeom>
        </p:spPr>
        <p:txBody>
          <a:bodyPr anchor="t" rtlCol="false" tIns="0" lIns="0" bIns="0" rIns="0">
            <a:spAutoFit/>
          </a:bodyPr>
          <a:lstStyle/>
          <a:p>
            <a:pPr algn="ctr" marL="0" indent="0" lvl="0">
              <a:lnSpc>
                <a:spcPts val="9960"/>
              </a:lnSpc>
              <a:spcBef>
                <a:spcPct val="0"/>
              </a:spcBef>
            </a:pPr>
            <a:r>
              <a:rPr lang="en-US" sz="8300" spc="-498">
                <a:solidFill>
                  <a:srgbClr val="F0F6F5"/>
                </a:solidFill>
                <a:latin typeface="Mokoto"/>
                <a:ea typeface="Mokoto"/>
                <a:cs typeface="Mokoto"/>
                <a:sym typeface="Mokoto"/>
              </a:rPr>
              <a:t>Análisis: casos de uso del negocio.</a:t>
            </a:r>
          </a:p>
        </p:txBody>
      </p:sp>
      <p:sp>
        <p:nvSpPr>
          <p:cNvPr name="Freeform 6" id="6"/>
          <p:cNvSpPr/>
          <p:nvPr/>
        </p:nvSpPr>
        <p:spPr>
          <a:xfrm flipH="true" flipV="false" rot="0">
            <a:off x="-3508757" y="-1064553"/>
            <a:ext cx="9751946" cy="2563471"/>
          </a:xfrm>
          <a:custGeom>
            <a:avLst/>
            <a:gdLst/>
            <a:ahLst/>
            <a:cxnLst/>
            <a:rect r="r" b="b" t="t" l="l"/>
            <a:pathLst>
              <a:path h="2563471" w="9751946">
                <a:moveTo>
                  <a:pt x="9751946" y="0"/>
                </a:moveTo>
                <a:lnTo>
                  <a:pt x="0" y="0"/>
                </a:lnTo>
                <a:lnTo>
                  <a:pt x="0" y="2563471"/>
                </a:lnTo>
                <a:lnTo>
                  <a:pt x="9751946" y="2563471"/>
                </a:lnTo>
                <a:lnTo>
                  <a:pt x="9751946" y="0"/>
                </a:lnTo>
                <a:close/>
              </a:path>
            </a:pathLst>
          </a:custGeom>
          <a:blipFill>
            <a:blip r:embed="rId2">
              <a:alphaModFix amt="38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14994293" y="8520479"/>
            <a:ext cx="9751946" cy="2563471"/>
          </a:xfrm>
          <a:custGeom>
            <a:avLst/>
            <a:gdLst/>
            <a:ahLst/>
            <a:cxnLst/>
            <a:rect r="r" b="b" t="t" l="l"/>
            <a:pathLst>
              <a:path h="2563471" w="9751946">
                <a:moveTo>
                  <a:pt x="9751945" y="0"/>
                </a:moveTo>
                <a:lnTo>
                  <a:pt x="0" y="0"/>
                </a:lnTo>
                <a:lnTo>
                  <a:pt x="0" y="2563471"/>
                </a:lnTo>
                <a:lnTo>
                  <a:pt x="9751945" y="2563471"/>
                </a:lnTo>
                <a:lnTo>
                  <a:pt x="9751945" y="0"/>
                </a:lnTo>
                <a:close/>
              </a:path>
            </a:pathLst>
          </a:custGeom>
          <a:blipFill>
            <a:blip r:embed="rId2">
              <a:alphaModFix amt="38000"/>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591064" y="2642868"/>
            <a:ext cx="8294891" cy="6836626"/>
          </a:xfrm>
          <a:custGeom>
            <a:avLst/>
            <a:gdLst/>
            <a:ahLst/>
            <a:cxnLst/>
            <a:rect r="r" b="b" t="t" l="l"/>
            <a:pathLst>
              <a:path h="6836626" w="8294891">
                <a:moveTo>
                  <a:pt x="0" y="0"/>
                </a:moveTo>
                <a:lnTo>
                  <a:pt x="8294891" y="0"/>
                </a:lnTo>
                <a:lnTo>
                  <a:pt x="8294891" y="6836627"/>
                </a:lnTo>
                <a:lnTo>
                  <a:pt x="0" y="6836627"/>
                </a:lnTo>
                <a:lnTo>
                  <a:pt x="0" y="0"/>
                </a:lnTo>
                <a:close/>
              </a:path>
            </a:pathLst>
          </a:custGeom>
          <a:blipFill>
            <a:blip r:embed="rId4"/>
            <a:stretch>
              <a:fillRect l="0" t="0" r="-206" b="0"/>
            </a:stretch>
          </a:blipFill>
        </p:spPr>
      </p:sp>
      <p:sp>
        <p:nvSpPr>
          <p:cNvPr name="TextBox 5" id="5"/>
          <p:cNvSpPr txBox="true"/>
          <p:nvPr/>
        </p:nvSpPr>
        <p:spPr>
          <a:xfrm rot="0">
            <a:off x="1028700" y="761816"/>
            <a:ext cx="16708600" cy="791524"/>
          </a:xfrm>
          <a:prstGeom prst="rect">
            <a:avLst/>
          </a:prstGeom>
        </p:spPr>
        <p:txBody>
          <a:bodyPr anchor="t" rtlCol="false" tIns="0" lIns="0" bIns="0" rIns="0">
            <a:spAutoFit/>
          </a:bodyPr>
          <a:lstStyle/>
          <a:p>
            <a:pPr algn="l">
              <a:lnSpc>
                <a:spcPts val="6470"/>
              </a:lnSpc>
              <a:spcBef>
                <a:spcPct val="0"/>
              </a:spcBef>
            </a:pPr>
            <a:r>
              <a:rPr lang="en-US" sz="4621" u="sng">
                <a:solidFill>
                  <a:srgbClr val="000000"/>
                </a:solidFill>
                <a:latin typeface="Mokoto"/>
                <a:ea typeface="Mokoto"/>
                <a:cs typeface="Mokoto"/>
                <a:sym typeface="Mokoto"/>
              </a:rPr>
              <a:t>SISTEMA DE GESTIÓN ACADÉMICA (SGA)</a:t>
            </a:r>
          </a:p>
        </p:txBody>
      </p:sp>
      <p:sp>
        <p:nvSpPr>
          <p:cNvPr name="TextBox 6" id="6"/>
          <p:cNvSpPr txBox="true"/>
          <p:nvPr/>
        </p:nvSpPr>
        <p:spPr>
          <a:xfrm rot="0">
            <a:off x="836353" y="2356941"/>
            <a:ext cx="4770618" cy="505179"/>
          </a:xfrm>
          <a:prstGeom prst="rect">
            <a:avLst/>
          </a:prstGeom>
        </p:spPr>
        <p:txBody>
          <a:bodyPr anchor="t" rtlCol="false" tIns="0" lIns="0" bIns="0" rIns="0">
            <a:spAutoFit/>
          </a:bodyPr>
          <a:lstStyle/>
          <a:p>
            <a:pPr algn="ctr">
              <a:lnSpc>
                <a:spcPts val="4001"/>
              </a:lnSpc>
              <a:spcBef>
                <a:spcPct val="0"/>
              </a:spcBef>
            </a:pPr>
            <a:r>
              <a:rPr lang="en-US" sz="2899" spc="124">
                <a:solidFill>
                  <a:srgbClr val="000000"/>
                </a:solidFill>
                <a:latin typeface="Lovelo"/>
                <a:ea typeface="Lovelo"/>
                <a:cs typeface="Lovelo"/>
                <a:sym typeface="Lovelo"/>
              </a:rPr>
              <a:t>Objetivos del Negocio</a:t>
            </a:r>
          </a:p>
        </p:txBody>
      </p:sp>
      <p:sp>
        <p:nvSpPr>
          <p:cNvPr name="TextBox 7" id="7"/>
          <p:cNvSpPr txBox="true"/>
          <p:nvPr/>
        </p:nvSpPr>
        <p:spPr>
          <a:xfrm rot="0">
            <a:off x="836353" y="2932818"/>
            <a:ext cx="8754711" cy="2619375"/>
          </a:xfrm>
          <a:prstGeom prst="rect">
            <a:avLst/>
          </a:prstGeom>
        </p:spPr>
        <p:txBody>
          <a:bodyPr anchor="t" rtlCol="false" tIns="0" lIns="0" bIns="0" rIns="0">
            <a:spAutoFit/>
          </a:bodyPr>
          <a:lstStyle/>
          <a:p>
            <a:pPr algn="l" marL="539751" indent="-269876" lvl="1">
              <a:lnSpc>
                <a:spcPts val="3450"/>
              </a:lnSpc>
              <a:spcBef>
                <a:spcPct val="0"/>
              </a:spcBef>
              <a:buFont typeface="Arial"/>
              <a:buChar char="•"/>
            </a:pPr>
            <a:r>
              <a:rPr lang="en-US" sz="2500" spc="92">
                <a:solidFill>
                  <a:srgbClr val="000000"/>
                </a:solidFill>
                <a:latin typeface="Sniglet"/>
                <a:ea typeface="Sniglet"/>
                <a:cs typeface="Sniglet"/>
                <a:sym typeface="Sniglet"/>
              </a:rPr>
              <a:t>Centralizar información académica</a:t>
            </a:r>
          </a:p>
          <a:p>
            <a:pPr algn="l" marL="539751" indent="-269876" lvl="1">
              <a:lnSpc>
                <a:spcPts val="3450"/>
              </a:lnSpc>
              <a:spcBef>
                <a:spcPct val="0"/>
              </a:spcBef>
              <a:buFont typeface="Arial"/>
              <a:buChar char="•"/>
            </a:pPr>
            <a:r>
              <a:rPr lang="en-US" sz="2500" spc="92">
                <a:solidFill>
                  <a:srgbClr val="000000"/>
                </a:solidFill>
                <a:latin typeface="Sniglet"/>
                <a:ea typeface="Sniglet"/>
                <a:cs typeface="Sniglet"/>
                <a:sym typeface="Sniglet"/>
              </a:rPr>
              <a:t>Automatizar matrícula</a:t>
            </a:r>
          </a:p>
          <a:p>
            <a:pPr algn="l" marL="539751" indent="-269876" lvl="1">
              <a:lnSpc>
                <a:spcPts val="3450"/>
              </a:lnSpc>
              <a:spcBef>
                <a:spcPct val="0"/>
              </a:spcBef>
              <a:buFont typeface="Arial"/>
              <a:buChar char="•"/>
            </a:pPr>
            <a:r>
              <a:rPr lang="en-US" sz="2500" spc="92">
                <a:solidFill>
                  <a:srgbClr val="000000"/>
                </a:solidFill>
                <a:latin typeface="Sniglet"/>
                <a:ea typeface="Sniglet"/>
                <a:cs typeface="Sniglet"/>
                <a:sym typeface="Sniglet"/>
              </a:rPr>
              <a:t>Garantizar trazabilidad e integridad</a:t>
            </a:r>
          </a:p>
          <a:p>
            <a:pPr algn="l" marL="539751" indent="-269876" lvl="1">
              <a:lnSpc>
                <a:spcPts val="3450"/>
              </a:lnSpc>
              <a:spcBef>
                <a:spcPct val="0"/>
              </a:spcBef>
              <a:buFont typeface="Arial"/>
              <a:buChar char="•"/>
            </a:pPr>
            <a:r>
              <a:rPr lang="en-US" sz="2500" spc="92">
                <a:solidFill>
                  <a:srgbClr val="000000"/>
                </a:solidFill>
                <a:latin typeface="Sniglet"/>
                <a:ea typeface="Sniglet"/>
                <a:cs typeface="Sniglet"/>
                <a:sym typeface="Sniglet"/>
              </a:rPr>
              <a:t>Parametrizar políticas académicas</a:t>
            </a:r>
          </a:p>
          <a:p>
            <a:pPr algn="l" marL="539751" indent="-269876" lvl="1">
              <a:lnSpc>
                <a:spcPts val="3450"/>
              </a:lnSpc>
              <a:spcBef>
                <a:spcPct val="0"/>
              </a:spcBef>
              <a:buFont typeface="Arial"/>
              <a:buChar char="•"/>
            </a:pPr>
            <a:r>
              <a:rPr lang="en-US" sz="2500" spc="92">
                <a:solidFill>
                  <a:srgbClr val="000000"/>
                </a:solidFill>
                <a:latin typeface="Sniglet"/>
                <a:ea typeface="Sniglet"/>
                <a:cs typeface="Sniglet"/>
                <a:sym typeface="Sniglet"/>
              </a:rPr>
              <a:t>Aislar instituciones (Multi-Tenant)</a:t>
            </a:r>
          </a:p>
          <a:p>
            <a:pPr algn="l" marL="539751" indent="-269876" lvl="1">
              <a:lnSpc>
                <a:spcPts val="3450"/>
              </a:lnSpc>
              <a:spcBef>
                <a:spcPct val="0"/>
              </a:spcBef>
              <a:buFont typeface="Arial"/>
              <a:buChar char="•"/>
            </a:pPr>
            <a:r>
              <a:rPr lang="en-US" sz="2500" spc="92">
                <a:solidFill>
                  <a:srgbClr val="000000"/>
                </a:solidFill>
                <a:latin typeface="Sniglet"/>
                <a:ea typeface="Sniglet"/>
                <a:cs typeface="Sniglet"/>
                <a:sym typeface="Sniglet"/>
              </a:rPr>
              <a:t>Facilitar auditoría</a:t>
            </a:r>
          </a:p>
        </p:txBody>
      </p:sp>
      <p:sp>
        <p:nvSpPr>
          <p:cNvPr name="TextBox 8" id="8"/>
          <p:cNvSpPr txBox="true"/>
          <p:nvPr/>
        </p:nvSpPr>
        <p:spPr>
          <a:xfrm rot="0">
            <a:off x="1045863" y="6429039"/>
            <a:ext cx="4351599" cy="505179"/>
          </a:xfrm>
          <a:prstGeom prst="rect">
            <a:avLst/>
          </a:prstGeom>
        </p:spPr>
        <p:txBody>
          <a:bodyPr anchor="t" rtlCol="false" tIns="0" lIns="0" bIns="0" rIns="0">
            <a:spAutoFit/>
          </a:bodyPr>
          <a:lstStyle/>
          <a:p>
            <a:pPr algn="ctr">
              <a:lnSpc>
                <a:spcPts val="4001"/>
              </a:lnSpc>
              <a:spcBef>
                <a:spcPct val="0"/>
              </a:spcBef>
            </a:pPr>
            <a:r>
              <a:rPr lang="en-US" sz="2899" spc="124">
                <a:solidFill>
                  <a:srgbClr val="000000"/>
                </a:solidFill>
                <a:latin typeface="Lovelo"/>
                <a:ea typeface="Lovelo"/>
                <a:cs typeface="Lovelo"/>
                <a:sym typeface="Lovelo"/>
              </a:rPr>
              <a:t>Ac</a:t>
            </a:r>
            <a:r>
              <a:rPr lang="en-US" sz="2899" spc="124">
                <a:solidFill>
                  <a:srgbClr val="000000"/>
                </a:solidFill>
                <a:latin typeface="Lovelo"/>
                <a:ea typeface="Lovelo"/>
                <a:cs typeface="Lovelo"/>
                <a:sym typeface="Lovelo"/>
              </a:rPr>
              <a:t>tores del Negocio</a:t>
            </a:r>
          </a:p>
        </p:txBody>
      </p:sp>
      <p:sp>
        <p:nvSpPr>
          <p:cNvPr name="TextBox 9" id="9"/>
          <p:cNvSpPr txBox="true"/>
          <p:nvPr/>
        </p:nvSpPr>
        <p:spPr>
          <a:xfrm rot="0">
            <a:off x="781963" y="7000893"/>
            <a:ext cx="4466873" cy="1742858"/>
          </a:xfrm>
          <a:prstGeom prst="rect">
            <a:avLst/>
          </a:prstGeom>
        </p:spPr>
        <p:txBody>
          <a:bodyPr anchor="t" rtlCol="false" tIns="0" lIns="0" bIns="0" rIns="0">
            <a:spAutoFit/>
          </a:bodyPr>
          <a:lstStyle/>
          <a:p>
            <a:pPr algn="l" marL="539751" indent="-269876" lvl="1">
              <a:lnSpc>
                <a:spcPts val="3450"/>
              </a:lnSpc>
              <a:buFont typeface="Arial"/>
              <a:buChar char="•"/>
            </a:pPr>
            <a:r>
              <a:rPr lang="en-US" sz="2500" spc="92">
                <a:solidFill>
                  <a:srgbClr val="000000"/>
                </a:solidFill>
                <a:latin typeface="Sniglet"/>
                <a:ea typeface="Sniglet"/>
                <a:cs typeface="Sniglet"/>
                <a:sym typeface="Sniglet"/>
              </a:rPr>
              <a:t>Alumno</a:t>
            </a:r>
          </a:p>
          <a:p>
            <a:pPr algn="l" marL="539751" indent="-269876" lvl="1">
              <a:lnSpc>
                <a:spcPts val="3450"/>
              </a:lnSpc>
              <a:buFont typeface="Arial"/>
              <a:buChar char="•"/>
            </a:pPr>
            <a:r>
              <a:rPr lang="en-US" sz="2500" spc="92">
                <a:solidFill>
                  <a:srgbClr val="000000"/>
                </a:solidFill>
                <a:latin typeface="Sniglet"/>
                <a:ea typeface="Sniglet"/>
                <a:cs typeface="Sniglet"/>
                <a:sym typeface="Sniglet"/>
              </a:rPr>
              <a:t>Docente</a:t>
            </a:r>
          </a:p>
          <a:p>
            <a:pPr algn="l" marL="539751" indent="-269876" lvl="1">
              <a:lnSpc>
                <a:spcPts val="3450"/>
              </a:lnSpc>
              <a:buFont typeface="Arial"/>
              <a:buChar char="•"/>
            </a:pPr>
            <a:r>
              <a:rPr lang="en-US" sz="2500" spc="92">
                <a:solidFill>
                  <a:srgbClr val="000000"/>
                </a:solidFill>
                <a:latin typeface="Sniglet"/>
                <a:ea typeface="Sniglet"/>
                <a:cs typeface="Sniglet"/>
                <a:sym typeface="Sniglet"/>
              </a:rPr>
              <a:t>Administrador Académico</a:t>
            </a:r>
          </a:p>
          <a:p>
            <a:pPr algn="l" marL="539751" indent="-269876" lvl="1">
              <a:lnSpc>
                <a:spcPts val="3450"/>
              </a:lnSpc>
              <a:buFont typeface="Arial"/>
              <a:buChar char="•"/>
            </a:pPr>
            <a:r>
              <a:rPr lang="en-US" sz="2500" spc="92">
                <a:solidFill>
                  <a:srgbClr val="000000"/>
                </a:solidFill>
                <a:latin typeface="Sniglet"/>
                <a:ea typeface="Sniglet"/>
                <a:cs typeface="Sniglet"/>
                <a:sym typeface="Sniglet"/>
              </a:rPr>
              <a:t>Administrador Central</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313248" y="1851090"/>
            <a:ext cx="11661504" cy="7667439"/>
          </a:xfrm>
          <a:custGeom>
            <a:avLst/>
            <a:gdLst/>
            <a:ahLst/>
            <a:cxnLst/>
            <a:rect r="r" b="b" t="t" l="l"/>
            <a:pathLst>
              <a:path h="7667439" w="11661504">
                <a:moveTo>
                  <a:pt x="0" y="0"/>
                </a:moveTo>
                <a:lnTo>
                  <a:pt x="11661504" y="0"/>
                </a:lnTo>
                <a:lnTo>
                  <a:pt x="11661504" y="7667439"/>
                </a:lnTo>
                <a:lnTo>
                  <a:pt x="0" y="7667439"/>
                </a:lnTo>
                <a:lnTo>
                  <a:pt x="0" y="0"/>
                </a:lnTo>
                <a:close/>
              </a:path>
            </a:pathLst>
          </a:custGeom>
          <a:blipFill>
            <a:blip r:embed="rId4"/>
            <a:stretch>
              <a:fillRect l="0" t="0" r="0" b="0"/>
            </a:stretch>
          </a:blipFill>
        </p:spPr>
      </p:sp>
      <p:sp>
        <p:nvSpPr>
          <p:cNvPr name="TextBox 5" id="5"/>
          <p:cNvSpPr txBox="true"/>
          <p:nvPr/>
        </p:nvSpPr>
        <p:spPr>
          <a:xfrm rot="0">
            <a:off x="1028700" y="1022778"/>
            <a:ext cx="4605013" cy="505179"/>
          </a:xfrm>
          <a:prstGeom prst="rect">
            <a:avLst/>
          </a:prstGeom>
        </p:spPr>
        <p:txBody>
          <a:bodyPr anchor="t" rtlCol="false" tIns="0" lIns="0" bIns="0" rIns="0">
            <a:spAutoFit/>
          </a:bodyPr>
          <a:lstStyle/>
          <a:p>
            <a:pPr algn="ctr">
              <a:lnSpc>
                <a:spcPts val="4001"/>
              </a:lnSpc>
              <a:spcBef>
                <a:spcPct val="0"/>
              </a:spcBef>
            </a:pPr>
            <a:r>
              <a:rPr lang="en-US" sz="2899" spc="124">
                <a:solidFill>
                  <a:srgbClr val="000000"/>
                </a:solidFill>
                <a:latin typeface="Lovelo"/>
                <a:ea typeface="Lovelo"/>
                <a:cs typeface="Lovelo"/>
                <a:sym typeface="Lovelo"/>
              </a:rPr>
              <a:t>GESTIÓN</a:t>
            </a:r>
            <a:r>
              <a:rPr lang="en-US" sz="2899" spc="124">
                <a:solidFill>
                  <a:srgbClr val="000000"/>
                </a:solidFill>
                <a:latin typeface="Lovelo"/>
                <a:ea typeface="Lovelo"/>
                <a:cs typeface="Lovelo"/>
                <a:sym typeface="Lovelo"/>
              </a:rPr>
              <a:t> INSTITUCIONAL</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036607" y="2064355"/>
            <a:ext cx="12214785" cy="7420482"/>
          </a:xfrm>
          <a:custGeom>
            <a:avLst/>
            <a:gdLst/>
            <a:ahLst/>
            <a:cxnLst/>
            <a:rect r="r" b="b" t="t" l="l"/>
            <a:pathLst>
              <a:path h="7420482" w="12214785">
                <a:moveTo>
                  <a:pt x="0" y="0"/>
                </a:moveTo>
                <a:lnTo>
                  <a:pt x="12214786" y="0"/>
                </a:lnTo>
                <a:lnTo>
                  <a:pt x="12214786" y="7420482"/>
                </a:lnTo>
                <a:lnTo>
                  <a:pt x="0" y="7420482"/>
                </a:lnTo>
                <a:lnTo>
                  <a:pt x="0" y="0"/>
                </a:lnTo>
                <a:close/>
              </a:path>
            </a:pathLst>
          </a:custGeom>
          <a:blipFill>
            <a:blip r:embed="rId4"/>
            <a:stretch>
              <a:fillRect l="0" t="0" r="0" b="0"/>
            </a:stretch>
          </a:blipFill>
        </p:spPr>
      </p:sp>
      <p:sp>
        <p:nvSpPr>
          <p:cNvPr name="TextBox 5" id="5"/>
          <p:cNvSpPr txBox="true"/>
          <p:nvPr/>
        </p:nvSpPr>
        <p:spPr>
          <a:xfrm rot="0">
            <a:off x="1028700" y="1022778"/>
            <a:ext cx="6717097" cy="505179"/>
          </a:xfrm>
          <a:prstGeom prst="rect">
            <a:avLst/>
          </a:prstGeom>
        </p:spPr>
        <p:txBody>
          <a:bodyPr anchor="t" rtlCol="false" tIns="0" lIns="0" bIns="0" rIns="0">
            <a:spAutoFit/>
          </a:bodyPr>
          <a:lstStyle/>
          <a:p>
            <a:pPr algn="ctr">
              <a:lnSpc>
                <a:spcPts val="4001"/>
              </a:lnSpc>
              <a:spcBef>
                <a:spcPct val="0"/>
              </a:spcBef>
            </a:pPr>
            <a:r>
              <a:rPr lang="en-US" sz="2899" spc="124">
                <a:solidFill>
                  <a:srgbClr val="000000"/>
                </a:solidFill>
                <a:latin typeface="Lovelo"/>
                <a:ea typeface="Lovelo"/>
                <a:cs typeface="Lovelo"/>
                <a:sym typeface="Lovelo"/>
              </a:rPr>
              <a:t>GESTIÓN</a:t>
            </a:r>
            <a:r>
              <a:rPr lang="en-US" sz="2899" spc="124">
                <a:solidFill>
                  <a:srgbClr val="000000"/>
                </a:solidFill>
                <a:latin typeface="Lovelo"/>
                <a:ea typeface="Lovelo"/>
                <a:cs typeface="Lovelo"/>
                <a:sym typeface="Lovelo"/>
              </a:rPr>
              <a:t> DEL PERÍODO ACADÉMICO</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738657" y="1894102"/>
            <a:ext cx="9705697" cy="7364198"/>
          </a:xfrm>
          <a:custGeom>
            <a:avLst/>
            <a:gdLst/>
            <a:ahLst/>
            <a:cxnLst/>
            <a:rect r="r" b="b" t="t" l="l"/>
            <a:pathLst>
              <a:path h="7364198" w="9705697">
                <a:moveTo>
                  <a:pt x="0" y="0"/>
                </a:moveTo>
                <a:lnTo>
                  <a:pt x="9705697" y="0"/>
                </a:lnTo>
                <a:lnTo>
                  <a:pt x="9705697" y="7364198"/>
                </a:lnTo>
                <a:lnTo>
                  <a:pt x="0" y="7364198"/>
                </a:lnTo>
                <a:lnTo>
                  <a:pt x="0" y="0"/>
                </a:lnTo>
                <a:close/>
              </a:path>
            </a:pathLst>
          </a:custGeom>
          <a:blipFill>
            <a:blip r:embed="rId4"/>
            <a:stretch>
              <a:fillRect l="0" t="0" r="0" b="0"/>
            </a:stretch>
          </a:blipFill>
        </p:spPr>
      </p:sp>
      <p:sp>
        <p:nvSpPr>
          <p:cNvPr name="TextBox 5" id="5"/>
          <p:cNvSpPr txBox="true"/>
          <p:nvPr/>
        </p:nvSpPr>
        <p:spPr>
          <a:xfrm rot="0">
            <a:off x="1028700" y="1022778"/>
            <a:ext cx="5419914" cy="505179"/>
          </a:xfrm>
          <a:prstGeom prst="rect">
            <a:avLst/>
          </a:prstGeom>
        </p:spPr>
        <p:txBody>
          <a:bodyPr anchor="t" rtlCol="false" tIns="0" lIns="0" bIns="0" rIns="0">
            <a:spAutoFit/>
          </a:bodyPr>
          <a:lstStyle/>
          <a:p>
            <a:pPr algn="ctr">
              <a:lnSpc>
                <a:spcPts val="4001"/>
              </a:lnSpc>
              <a:spcBef>
                <a:spcPct val="0"/>
              </a:spcBef>
            </a:pPr>
            <a:r>
              <a:rPr lang="en-US" sz="2899" spc="124">
                <a:solidFill>
                  <a:srgbClr val="000000"/>
                </a:solidFill>
                <a:latin typeface="Lovelo"/>
                <a:ea typeface="Lovelo"/>
                <a:cs typeface="Lovelo"/>
                <a:sym typeface="Lovelo"/>
              </a:rPr>
              <a:t>CONFIGURACIÓ</a:t>
            </a:r>
            <a:r>
              <a:rPr lang="en-US" sz="2899" spc="124">
                <a:solidFill>
                  <a:srgbClr val="000000"/>
                </a:solidFill>
                <a:latin typeface="Lovelo"/>
                <a:ea typeface="Lovelo"/>
                <a:cs typeface="Lovelo"/>
                <a:sym typeface="Lovelo"/>
              </a:rPr>
              <a:t>N ACADÉMICA</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685586" y="2016033"/>
            <a:ext cx="12650247" cy="7242267"/>
          </a:xfrm>
          <a:custGeom>
            <a:avLst/>
            <a:gdLst/>
            <a:ahLst/>
            <a:cxnLst/>
            <a:rect r="r" b="b" t="t" l="l"/>
            <a:pathLst>
              <a:path h="7242267" w="12650247">
                <a:moveTo>
                  <a:pt x="0" y="0"/>
                </a:moveTo>
                <a:lnTo>
                  <a:pt x="12650247" y="0"/>
                </a:lnTo>
                <a:lnTo>
                  <a:pt x="12650247" y="7242267"/>
                </a:lnTo>
                <a:lnTo>
                  <a:pt x="0" y="7242267"/>
                </a:lnTo>
                <a:lnTo>
                  <a:pt x="0" y="0"/>
                </a:lnTo>
                <a:close/>
              </a:path>
            </a:pathLst>
          </a:custGeom>
          <a:blipFill>
            <a:blip r:embed="rId4"/>
            <a:stretch>
              <a:fillRect l="0" t="0" r="0" b="0"/>
            </a:stretch>
          </a:blipFill>
        </p:spPr>
      </p:sp>
      <p:sp>
        <p:nvSpPr>
          <p:cNvPr name="TextBox 5" id="5"/>
          <p:cNvSpPr txBox="true"/>
          <p:nvPr/>
        </p:nvSpPr>
        <p:spPr>
          <a:xfrm rot="0">
            <a:off x="1028700" y="1022778"/>
            <a:ext cx="5916324" cy="505179"/>
          </a:xfrm>
          <a:prstGeom prst="rect">
            <a:avLst/>
          </a:prstGeom>
        </p:spPr>
        <p:txBody>
          <a:bodyPr anchor="t" rtlCol="false" tIns="0" lIns="0" bIns="0" rIns="0">
            <a:spAutoFit/>
          </a:bodyPr>
          <a:lstStyle/>
          <a:p>
            <a:pPr algn="ctr">
              <a:lnSpc>
                <a:spcPts val="4001"/>
              </a:lnSpc>
              <a:spcBef>
                <a:spcPct val="0"/>
              </a:spcBef>
            </a:pPr>
            <a:r>
              <a:rPr lang="en-US" sz="2899" spc="124">
                <a:solidFill>
                  <a:srgbClr val="000000"/>
                </a:solidFill>
                <a:latin typeface="Lovelo"/>
                <a:ea typeface="Lovelo"/>
                <a:cs typeface="Lovelo"/>
                <a:sym typeface="Lovelo"/>
              </a:rPr>
              <a:t>GESTIÓN DE USUARIOS</a:t>
            </a:r>
            <a:r>
              <a:rPr lang="en-US" sz="2899" spc="124">
                <a:solidFill>
                  <a:srgbClr val="000000"/>
                </a:solidFill>
                <a:latin typeface="Lovelo"/>
                <a:ea typeface="Lovelo"/>
                <a:cs typeface="Lovelo"/>
                <a:sym typeface="Lovelo"/>
              </a:rPr>
              <a:t> Y ROLES</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grpSp>
        <p:nvGrpSpPr>
          <p:cNvPr name="Group 2" id="2"/>
          <p:cNvGrpSpPr/>
          <p:nvPr/>
        </p:nvGrpSpPr>
        <p:grpSpPr>
          <a:xfrm rot="0">
            <a:off x="-792860" y="3386791"/>
            <a:ext cx="20835606" cy="3716155"/>
            <a:chOff x="0" y="0"/>
            <a:chExt cx="5487567" cy="978740"/>
          </a:xfrm>
        </p:grpSpPr>
        <p:sp>
          <p:nvSpPr>
            <p:cNvPr name="Freeform 3" id="3"/>
            <p:cNvSpPr/>
            <p:nvPr/>
          </p:nvSpPr>
          <p:spPr>
            <a:xfrm flipH="false" flipV="false" rot="0">
              <a:off x="0" y="0"/>
              <a:ext cx="5487567" cy="978740"/>
            </a:xfrm>
            <a:custGeom>
              <a:avLst/>
              <a:gdLst/>
              <a:ahLst/>
              <a:cxnLst/>
              <a:rect r="r" b="b" t="t" l="l"/>
              <a:pathLst>
                <a:path h="978740" w="5487567">
                  <a:moveTo>
                    <a:pt x="0" y="0"/>
                  </a:moveTo>
                  <a:lnTo>
                    <a:pt x="5487567" y="0"/>
                  </a:lnTo>
                  <a:lnTo>
                    <a:pt x="5487567" y="978740"/>
                  </a:lnTo>
                  <a:lnTo>
                    <a:pt x="0" y="978740"/>
                  </a:lnTo>
                  <a:close/>
                </a:path>
              </a:pathLst>
            </a:custGeom>
            <a:solidFill>
              <a:srgbClr val="4E767D"/>
            </a:solidFill>
          </p:spPr>
        </p:sp>
        <p:sp>
          <p:nvSpPr>
            <p:cNvPr name="TextBox 4" id="4"/>
            <p:cNvSpPr txBox="true"/>
            <p:nvPr/>
          </p:nvSpPr>
          <p:spPr>
            <a:xfrm>
              <a:off x="0" y="-47625"/>
              <a:ext cx="5487567" cy="1026365"/>
            </a:xfrm>
            <a:prstGeom prst="rect">
              <a:avLst/>
            </a:prstGeom>
          </p:spPr>
          <p:txBody>
            <a:bodyPr anchor="ctr" rtlCol="false" tIns="50800" lIns="50800" bIns="50800" rIns="50800"/>
            <a:lstStyle/>
            <a:p>
              <a:pPr algn="ctr">
                <a:lnSpc>
                  <a:spcPts val="3174"/>
                </a:lnSpc>
              </a:pPr>
            </a:p>
          </p:txBody>
        </p:sp>
      </p:grpSp>
      <p:sp>
        <p:nvSpPr>
          <p:cNvPr name="TextBox 5" id="5"/>
          <p:cNvSpPr txBox="true"/>
          <p:nvPr/>
        </p:nvSpPr>
        <p:spPr>
          <a:xfrm rot="0">
            <a:off x="1491457" y="4015154"/>
            <a:ext cx="15400337" cy="2524125"/>
          </a:xfrm>
          <a:prstGeom prst="rect">
            <a:avLst/>
          </a:prstGeom>
        </p:spPr>
        <p:txBody>
          <a:bodyPr anchor="t" rtlCol="false" tIns="0" lIns="0" bIns="0" rIns="0">
            <a:spAutoFit/>
          </a:bodyPr>
          <a:lstStyle/>
          <a:p>
            <a:pPr algn="ctr" marL="0" indent="0" lvl="0">
              <a:lnSpc>
                <a:spcPts val="9960"/>
              </a:lnSpc>
              <a:spcBef>
                <a:spcPct val="0"/>
              </a:spcBef>
            </a:pPr>
            <a:r>
              <a:rPr lang="en-US" sz="8300" spc="-498">
                <a:solidFill>
                  <a:srgbClr val="F0F6F5"/>
                </a:solidFill>
                <a:latin typeface="Mokoto"/>
                <a:ea typeface="Mokoto"/>
                <a:cs typeface="Mokoto"/>
                <a:sym typeface="Mokoto"/>
              </a:rPr>
              <a:t>Diseño: casos de uso de sistema</a:t>
            </a:r>
          </a:p>
        </p:txBody>
      </p:sp>
      <p:sp>
        <p:nvSpPr>
          <p:cNvPr name="Freeform 6" id="6"/>
          <p:cNvSpPr/>
          <p:nvPr/>
        </p:nvSpPr>
        <p:spPr>
          <a:xfrm flipH="true" flipV="false" rot="0">
            <a:off x="-3508757" y="-1064553"/>
            <a:ext cx="9751946" cy="2563471"/>
          </a:xfrm>
          <a:custGeom>
            <a:avLst/>
            <a:gdLst/>
            <a:ahLst/>
            <a:cxnLst/>
            <a:rect r="r" b="b" t="t" l="l"/>
            <a:pathLst>
              <a:path h="2563471" w="9751946">
                <a:moveTo>
                  <a:pt x="9751946" y="0"/>
                </a:moveTo>
                <a:lnTo>
                  <a:pt x="0" y="0"/>
                </a:lnTo>
                <a:lnTo>
                  <a:pt x="0" y="2563471"/>
                </a:lnTo>
                <a:lnTo>
                  <a:pt x="9751946" y="2563471"/>
                </a:lnTo>
                <a:lnTo>
                  <a:pt x="9751946" y="0"/>
                </a:lnTo>
                <a:close/>
              </a:path>
            </a:pathLst>
          </a:custGeom>
          <a:blipFill>
            <a:blip r:embed="rId2">
              <a:alphaModFix amt="38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14994293" y="8520479"/>
            <a:ext cx="9751946" cy="2563471"/>
          </a:xfrm>
          <a:custGeom>
            <a:avLst/>
            <a:gdLst/>
            <a:ahLst/>
            <a:cxnLst/>
            <a:rect r="r" b="b" t="t" l="l"/>
            <a:pathLst>
              <a:path h="2563471" w="9751946">
                <a:moveTo>
                  <a:pt x="9751945" y="0"/>
                </a:moveTo>
                <a:lnTo>
                  <a:pt x="0" y="0"/>
                </a:lnTo>
                <a:lnTo>
                  <a:pt x="0" y="2563471"/>
                </a:lnTo>
                <a:lnTo>
                  <a:pt x="9751945" y="2563471"/>
                </a:lnTo>
                <a:lnTo>
                  <a:pt x="9751945" y="0"/>
                </a:lnTo>
                <a:close/>
              </a:path>
            </a:pathLst>
          </a:custGeom>
          <a:blipFill>
            <a:blip r:embed="rId2">
              <a:alphaModFix amt="38000"/>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181100" y="914216"/>
            <a:ext cx="16708600" cy="791524"/>
          </a:xfrm>
          <a:prstGeom prst="rect">
            <a:avLst/>
          </a:prstGeom>
        </p:spPr>
        <p:txBody>
          <a:bodyPr anchor="t" rtlCol="false" tIns="0" lIns="0" bIns="0" rIns="0">
            <a:spAutoFit/>
          </a:bodyPr>
          <a:lstStyle/>
          <a:p>
            <a:pPr algn="l">
              <a:lnSpc>
                <a:spcPts val="6470"/>
              </a:lnSpc>
              <a:spcBef>
                <a:spcPct val="0"/>
              </a:spcBef>
            </a:pPr>
            <a:r>
              <a:rPr lang="en-US" sz="4621" u="sng">
                <a:solidFill>
                  <a:srgbClr val="000000"/>
                </a:solidFill>
                <a:latin typeface="Mokoto"/>
                <a:ea typeface="Mokoto"/>
                <a:cs typeface="Mokoto"/>
                <a:sym typeface="Mokoto"/>
              </a:rPr>
              <a:t>SISTEMA DE GESTIÓN ACADÉMICA (SGA)</a:t>
            </a:r>
          </a:p>
        </p:txBody>
      </p:sp>
      <p:sp>
        <p:nvSpPr>
          <p:cNvPr name="TextBox 5" id="5"/>
          <p:cNvSpPr txBox="true"/>
          <p:nvPr/>
        </p:nvSpPr>
        <p:spPr>
          <a:xfrm rot="0">
            <a:off x="1028700" y="2137662"/>
            <a:ext cx="4130576" cy="505206"/>
          </a:xfrm>
          <a:prstGeom prst="rect">
            <a:avLst/>
          </a:prstGeom>
        </p:spPr>
        <p:txBody>
          <a:bodyPr anchor="t" rtlCol="false" tIns="0" lIns="0" bIns="0" rIns="0">
            <a:spAutoFit/>
          </a:bodyPr>
          <a:lstStyle/>
          <a:p>
            <a:pPr algn="ctr">
              <a:lnSpc>
                <a:spcPts val="4001"/>
              </a:lnSpc>
              <a:spcBef>
                <a:spcPct val="0"/>
              </a:spcBef>
            </a:pPr>
            <a:r>
              <a:rPr lang="en-US" sz="2899" spc="124">
                <a:solidFill>
                  <a:srgbClr val="000000"/>
                </a:solidFill>
                <a:latin typeface="Lovelo"/>
                <a:ea typeface="Lovelo"/>
                <a:cs typeface="Lovelo"/>
                <a:sym typeface="Lovelo"/>
              </a:rPr>
              <a:t>Ac</a:t>
            </a:r>
            <a:r>
              <a:rPr lang="en-US" sz="2899" spc="124">
                <a:solidFill>
                  <a:srgbClr val="000000"/>
                </a:solidFill>
                <a:latin typeface="Lovelo"/>
                <a:ea typeface="Lovelo"/>
                <a:cs typeface="Lovelo"/>
                <a:sym typeface="Lovelo"/>
              </a:rPr>
              <a:t>tores del Sistema</a:t>
            </a:r>
          </a:p>
        </p:txBody>
      </p:sp>
      <p:sp>
        <p:nvSpPr>
          <p:cNvPr name="TextBox 6" id="6"/>
          <p:cNvSpPr txBox="true"/>
          <p:nvPr/>
        </p:nvSpPr>
        <p:spPr>
          <a:xfrm rot="0">
            <a:off x="1028700" y="2642783"/>
            <a:ext cx="5399754" cy="7202688"/>
          </a:xfrm>
          <a:prstGeom prst="rect">
            <a:avLst/>
          </a:prstGeom>
        </p:spPr>
        <p:txBody>
          <a:bodyPr anchor="t" rtlCol="false" tIns="0" lIns="0" bIns="0" rIns="0">
            <a:spAutoFit/>
          </a:bodyPr>
          <a:lstStyle/>
          <a:p>
            <a:pPr algn="l">
              <a:lnSpc>
                <a:spcPts val="2767"/>
              </a:lnSpc>
            </a:pPr>
          </a:p>
          <a:p>
            <a:pPr algn="l">
              <a:lnSpc>
                <a:spcPts val="2767"/>
              </a:lnSpc>
            </a:pPr>
            <a:r>
              <a:rPr lang="en-US" sz="2005" spc="74" b="true">
                <a:solidFill>
                  <a:srgbClr val="000000"/>
                </a:solidFill>
                <a:latin typeface="Poppins Bold"/>
                <a:ea typeface="Poppins Bold"/>
                <a:cs typeface="Poppins Bold"/>
                <a:sym typeface="Poppins Bold"/>
              </a:rPr>
              <a:t>Administrador Central</a:t>
            </a:r>
          </a:p>
          <a:p>
            <a:pPr algn="l">
              <a:lnSpc>
                <a:spcPts val="2767"/>
              </a:lnSpc>
            </a:pPr>
          </a:p>
          <a:p>
            <a:pPr algn="l" marL="432905" indent="-216452" lvl="1">
              <a:lnSpc>
                <a:spcPts val="2767"/>
              </a:lnSpc>
              <a:buFont typeface="Arial"/>
              <a:buChar char="•"/>
            </a:pPr>
            <a:r>
              <a:rPr lang="en-US" sz="2005" spc="74">
                <a:solidFill>
                  <a:srgbClr val="000000"/>
                </a:solidFill>
                <a:latin typeface="Poppins"/>
                <a:ea typeface="Poppins"/>
                <a:cs typeface="Poppins"/>
                <a:sym typeface="Poppins"/>
              </a:rPr>
              <a:t>Configura Tenants</a:t>
            </a:r>
          </a:p>
          <a:p>
            <a:pPr algn="l" marL="432905" indent="-216452" lvl="1">
              <a:lnSpc>
                <a:spcPts val="2767"/>
              </a:lnSpc>
              <a:buFont typeface="Arial"/>
              <a:buChar char="•"/>
            </a:pPr>
            <a:r>
              <a:rPr lang="en-US" sz="2005" spc="74">
                <a:solidFill>
                  <a:srgbClr val="000000"/>
                </a:solidFill>
                <a:latin typeface="Poppins"/>
                <a:ea typeface="Poppins"/>
                <a:cs typeface="Poppins"/>
                <a:sym typeface="Poppins"/>
              </a:rPr>
              <a:t>Administra parámetros globales</a:t>
            </a:r>
          </a:p>
          <a:p>
            <a:pPr algn="l">
              <a:lnSpc>
                <a:spcPts val="2767"/>
              </a:lnSpc>
            </a:pPr>
          </a:p>
          <a:p>
            <a:pPr algn="l">
              <a:lnSpc>
                <a:spcPts val="2767"/>
              </a:lnSpc>
            </a:pPr>
            <a:r>
              <a:rPr lang="en-US" b="true" sz="2005" spc="74">
                <a:solidFill>
                  <a:srgbClr val="000000"/>
                </a:solidFill>
                <a:latin typeface="Poppins Bold"/>
                <a:ea typeface="Poppins Bold"/>
                <a:cs typeface="Poppins Bold"/>
                <a:sym typeface="Poppins Bold"/>
              </a:rPr>
              <a:t>Administrador Académico</a:t>
            </a:r>
          </a:p>
          <a:p>
            <a:pPr algn="l">
              <a:lnSpc>
                <a:spcPts val="2767"/>
              </a:lnSpc>
            </a:pPr>
          </a:p>
          <a:p>
            <a:pPr algn="l" marL="432905" indent="-216452" lvl="1">
              <a:lnSpc>
                <a:spcPts val="2767"/>
              </a:lnSpc>
              <a:buFont typeface="Arial"/>
              <a:buChar char="•"/>
            </a:pPr>
            <a:r>
              <a:rPr lang="en-US" sz="2005" spc="74">
                <a:solidFill>
                  <a:srgbClr val="000000"/>
                </a:solidFill>
                <a:latin typeface="Poppins"/>
                <a:ea typeface="Poppins"/>
                <a:cs typeface="Poppins"/>
                <a:sym typeface="Poppins"/>
              </a:rPr>
              <a:t>Gestiona períodos</a:t>
            </a:r>
          </a:p>
          <a:p>
            <a:pPr algn="l" marL="432905" indent="-216452" lvl="1">
              <a:lnSpc>
                <a:spcPts val="2767"/>
              </a:lnSpc>
              <a:buFont typeface="Arial"/>
              <a:buChar char="•"/>
            </a:pPr>
            <a:r>
              <a:rPr lang="en-US" sz="2005" spc="74">
                <a:solidFill>
                  <a:srgbClr val="000000"/>
                </a:solidFill>
                <a:latin typeface="Poppins"/>
                <a:ea typeface="Poppins"/>
                <a:cs typeface="Poppins"/>
                <a:sym typeface="Poppins"/>
              </a:rPr>
              <a:t>Configura oferta académica</a:t>
            </a:r>
          </a:p>
          <a:p>
            <a:pPr algn="l">
              <a:lnSpc>
                <a:spcPts val="2767"/>
              </a:lnSpc>
            </a:pPr>
          </a:p>
          <a:p>
            <a:pPr algn="l">
              <a:lnSpc>
                <a:spcPts val="2767"/>
              </a:lnSpc>
            </a:pPr>
            <a:r>
              <a:rPr lang="en-US" b="true" sz="2005" spc="74">
                <a:solidFill>
                  <a:srgbClr val="000000"/>
                </a:solidFill>
                <a:latin typeface="Poppins Bold"/>
                <a:ea typeface="Poppins Bold"/>
                <a:cs typeface="Poppins Bold"/>
                <a:sym typeface="Poppins Bold"/>
              </a:rPr>
              <a:t>Docente</a:t>
            </a:r>
          </a:p>
          <a:p>
            <a:pPr algn="l">
              <a:lnSpc>
                <a:spcPts val="2767"/>
              </a:lnSpc>
            </a:pPr>
          </a:p>
          <a:p>
            <a:pPr algn="l" marL="432905" indent="-216452" lvl="1">
              <a:lnSpc>
                <a:spcPts val="2767"/>
              </a:lnSpc>
              <a:buFont typeface="Arial"/>
              <a:buChar char="•"/>
            </a:pPr>
            <a:r>
              <a:rPr lang="en-US" sz="2005" spc="74">
                <a:solidFill>
                  <a:srgbClr val="000000"/>
                </a:solidFill>
                <a:latin typeface="Poppins"/>
                <a:ea typeface="Poppins"/>
                <a:cs typeface="Poppins"/>
                <a:sym typeface="Poppins"/>
              </a:rPr>
              <a:t>Registra calificaciones</a:t>
            </a:r>
          </a:p>
          <a:p>
            <a:pPr algn="l" marL="432905" indent="-216452" lvl="1">
              <a:lnSpc>
                <a:spcPts val="2767"/>
              </a:lnSpc>
              <a:buFont typeface="Arial"/>
              <a:buChar char="•"/>
            </a:pPr>
            <a:r>
              <a:rPr lang="en-US" sz="2005" spc="74">
                <a:solidFill>
                  <a:srgbClr val="000000"/>
                </a:solidFill>
                <a:latin typeface="Poppins"/>
                <a:ea typeface="Poppins"/>
                <a:cs typeface="Poppins"/>
                <a:sym typeface="Poppins"/>
              </a:rPr>
              <a:t>Cierra actas</a:t>
            </a:r>
          </a:p>
          <a:p>
            <a:pPr algn="l">
              <a:lnSpc>
                <a:spcPts val="2767"/>
              </a:lnSpc>
            </a:pPr>
          </a:p>
          <a:p>
            <a:pPr algn="l">
              <a:lnSpc>
                <a:spcPts val="2767"/>
              </a:lnSpc>
            </a:pPr>
            <a:r>
              <a:rPr lang="en-US" b="true" sz="2005" spc="74">
                <a:solidFill>
                  <a:srgbClr val="000000"/>
                </a:solidFill>
                <a:latin typeface="Poppins Bold"/>
                <a:ea typeface="Poppins Bold"/>
                <a:cs typeface="Poppins Bold"/>
                <a:sym typeface="Poppins Bold"/>
              </a:rPr>
              <a:t>Alumno</a:t>
            </a:r>
          </a:p>
          <a:p>
            <a:pPr algn="l">
              <a:lnSpc>
                <a:spcPts val="2767"/>
              </a:lnSpc>
            </a:pPr>
          </a:p>
          <a:p>
            <a:pPr algn="l" marL="432905" indent="-216452" lvl="1">
              <a:lnSpc>
                <a:spcPts val="2767"/>
              </a:lnSpc>
              <a:buFont typeface="Arial"/>
              <a:buChar char="•"/>
            </a:pPr>
            <a:r>
              <a:rPr lang="en-US" sz="2005" spc="74">
                <a:solidFill>
                  <a:srgbClr val="000000"/>
                </a:solidFill>
                <a:latin typeface="Poppins"/>
                <a:ea typeface="Poppins"/>
                <a:cs typeface="Poppins"/>
                <a:sym typeface="Poppins"/>
              </a:rPr>
              <a:t>Realiza matrícula</a:t>
            </a:r>
          </a:p>
          <a:p>
            <a:pPr algn="l" marL="432905" indent="-216452" lvl="1">
              <a:lnSpc>
                <a:spcPts val="2767"/>
              </a:lnSpc>
              <a:buFont typeface="Arial"/>
              <a:buChar char="•"/>
            </a:pPr>
            <a:r>
              <a:rPr lang="en-US" sz="2005" spc="74">
                <a:solidFill>
                  <a:srgbClr val="000000"/>
                </a:solidFill>
                <a:latin typeface="Poppins"/>
                <a:ea typeface="Poppins"/>
                <a:cs typeface="Poppins"/>
                <a:sym typeface="Poppins"/>
              </a:rPr>
              <a:t>Consulta historial</a:t>
            </a:r>
          </a:p>
          <a:p>
            <a:pPr algn="l">
              <a:lnSpc>
                <a:spcPts val="2767"/>
              </a:lnSpc>
            </a:pPr>
          </a:p>
        </p:txBody>
      </p:sp>
      <p:graphicFrame>
        <p:nvGraphicFramePr>
          <p:cNvPr name="Table 7" id="7"/>
          <p:cNvGraphicFramePr>
            <a:graphicFrameLocks noGrp="true"/>
          </p:cNvGraphicFramePr>
          <p:nvPr/>
        </p:nvGraphicFramePr>
        <p:xfrm>
          <a:off x="8006466" y="3500189"/>
          <a:ext cx="7855261" cy="6142616"/>
        </p:xfrm>
        <a:graphic>
          <a:graphicData uri="http://schemas.openxmlformats.org/drawingml/2006/table">
            <a:tbl>
              <a:tblPr/>
              <a:tblGrid>
                <a:gridCol w="3927631"/>
                <a:gridCol w="3927631"/>
              </a:tblGrid>
              <a:tr h="1023769">
                <a:tc>
                  <a:txBody>
                    <a:bodyPr anchor="t" rtlCol="false"/>
                    <a:lstStyle/>
                    <a:p>
                      <a:pPr algn="l">
                        <a:lnSpc>
                          <a:spcPts val="2100"/>
                        </a:lnSpc>
                        <a:defRPr/>
                      </a:pPr>
                      <a:r>
                        <a:rPr lang="en-US" sz="1500" b="true">
                          <a:solidFill>
                            <a:srgbClr val="000000"/>
                          </a:solidFill>
                          <a:latin typeface="Open Sans Bold"/>
                          <a:ea typeface="Open Sans Bold"/>
                          <a:cs typeface="Open Sans Bold"/>
                          <a:sym typeface="Open Sans Bold"/>
                        </a:rPr>
                        <a:t>Código</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100"/>
                        </a:lnSpc>
                        <a:defRPr/>
                      </a:pPr>
                      <a:r>
                        <a:rPr lang="en-US" sz="1500" b="true">
                          <a:solidFill>
                            <a:srgbClr val="000000"/>
                          </a:solidFill>
                          <a:latin typeface="Open Sans Bold"/>
                          <a:ea typeface="Open Sans Bold"/>
                          <a:cs typeface="Open Sans Bold"/>
                          <a:sym typeface="Open Sans Bold"/>
                        </a:rPr>
                        <a:t>Caso de Uso</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3769">
                <a:tc>
                  <a:txBody>
                    <a:bodyPr anchor="t" rtlCol="false"/>
                    <a:lstStyle/>
                    <a:p>
                      <a:pPr algn="l">
                        <a:lnSpc>
                          <a:spcPts val="2100"/>
                        </a:lnSpc>
                        <a:defRPr/>
                      </a:pPr>
                      <a:r>
                        <a:rPr lang="en-US" sz="1500" b="true">
                          <a:solidFill>
                            <a:srgbClr val="000000"/>
                          </a:solidFill>
                          <a:latin typeface="Open Sans Bold"/>
                          <a:ea typeface="Open Sans Bold"/>
                          <a:cs typeface="Open Sans Bold"/>
                          <a:sym typeface="Open Sans Bold"/>
                        </a:rPr>
                        <a:t>CUS-TNT-01</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000000"/>
                          </a:solidFill>
                          <a:latin typeface="Open Sans"/>
                          <a:ea typeface="Open Sans"/>
                          <a:cs typeface="Open Sans"/>
                          <a:sym typeface="Open Sans"/>
                        </a:rPr>
                        <a:t>Registro de Tenant</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3769">
                <a:tc>
                  <a:txBody>
                    <a:bodyPr anchor="t" rtlCol="false"/>
                    <a:lstStyle/>
                    <a:p>
                      <a:pPr algn="l">
                        <a:lnSpc>
                          <a:spcPts val="2100"/>
                        </a:lnSpc>
                        <a:defRPr/>
                      </a:pPr>
                      <a:r>
                        <a:rPr lang="en-US" sz="1500" b="true">
                          <a:solidFill>
                            <a:srgbClr val="000000"/>
                          </a:solidFill>
                          <a:latin typeface="Open Sans Bold"/>
                          <a:ea typeface="Open Sans Bold"/>
                          <a:cs typeface="Open Sans Bold"/>
                          <a:sym typeface="Open Sans Bold"/>
                        </a:rPr>
                        <a:t>CUS-PER-01</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000000"/>
                          </a:solidFill>
                          <a:latin typeface="Open Sans"/>
                          <a:ea typeface="Open Sans"/>
                          <a:cs typeface="Open Sans"/>
                          <a:sym typeface="Open Sans"/>
                        </a:rPr>
                        <a:t>Creación de Período</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3769">
                <a:tc>
                  <a:txBody>
                    <a:bodyPr anchor="t" rtlCol="false"/>
                    <a:lstStyle/>
                    <a:p>
                      <a:pPr algn="l">
                        <a:lnSpc>
                          <a:spcPts val="2100"/>
                        </a:lnSpc>
                        <a:defRPr/>
                      </a:pPr>
                      <a:r>
                        <a:rPr lang="en-US" sz="1500" b="true">
                          <a:solidFill>
                            <a:srgbClr val="000000"/>
                          </a:solidFill>
                          <a:latin typeface="Open Sans Bold"/>
                          <a:ea typeface="Open Sans Bold"/>
                          <a:cs typeface="Open Sans Bold"/>
                          <a:sym typeface="Open Sans Bold"/>
                        </a:rPr>
                        <a:t>CUS-MAT-01</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000000"/>
                          </a:solidFill>
                          <a:latin typeface="Open Sans"/>
                          <a:ea typeface="Open Sans"/>
                          <a:cs typeface="Open Sans"/>
                          <a:sym typeface="Open Sans"/>
                        </a:rPr>
                        <a:t>Registro de Matrícula</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3769">
                <a:tc>
                  <a:txBody>
                    <a:bodyPr anchor="t" rtlCol="false"/>
                    <a:lstStyle/>
                    <a:p>
                      <a:pPr algn="l">
                        <a:lnSpc>
                          <a:spcPts val="2100"/>
                        </a:lnSpc>
                        <a:defRPr/>
                      </a:pPr>
                      <a:r>
                        <a:rPr lang="en-US" sz="1500" b="true">
                          <a:solidFill>
                            <a:srgbClr val="000000"/>
                          </a:solidFill>
                          <a:latin typeface="Open Sans Bold"/>
                          <a:ea typeface="Open Sans Bold"/>
                          <a:cs typeface="Open Sans Bold"/>
                          <a:sym typeface="Open Sans Bold"/>
                        </a:rPr>
                        <a:t>CUS-NOT-01</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000000"/>
                          </a:solidFill>
                          <a:latin typeface="Open Sans"/>
                          <a:ea typeface="Open Sans"/>
                          <a:cs typeface="Open Sans"/>
                          <a:sym typeface="Open Sans"/>
                        </a:rPr>
                        <a:t>Registro de Calificaciones</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3769">
                <a:tc>
                  <a:txBody>
                    <a:bodyPr anchor="t" rtlCol="false"/>
                    <a:lstStyle/>
                    <a:p>
                      <a:pPr algn="l">
                        <a:lnSpc>
                          <a:spcPts val="2100"/>
                        </a:lnSpc>
                        <a:defRPr/>
                      </a:pPr>
                      <a:r>
                        <a:rPr lang="en-US" sz="1500" b="true">
                          <a:solidFill>
                            <a:srgbClr val="000000"/>
                          </a:solidFill>
                          <a:latin typeface="Open Sans Bold"/>
                          <a:ea typeface="Open Sans Bold"/>
                          <a:cs typeface="Open Sans Bold"/>
                          <a:sym typeface="Open Sans Bold"/>
                        </a:rPr>
                        <a:t>CUS-HIS-01</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100"/>
                        </a:lnSpc>
                        <a:defRPr/>
                      </a:pPr>
                      <a:r>
                        <a:rPr lang="en-US" sz="1500">
                          <a:solidFill>
                            <a:srgbClr val="000000"/>
                          </a:solidFill>
                          <a:latin typeface="Open Sans"/>
                          <a:ea typeface="Open Sans"/>
                          <a:cs typeface="Open Sans"/>
                          <a:sym typeface="Open Sans"/>
                        </a:rPr>
                        <a:t>Consulta de Historial</a:t>
                      </a:r>
                      <a:endParaRPr lang="en-US" sz="1100"/>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AutoShape 8" id="8"/>
          <p:cNvSpPr/>
          <p:nvPr/>
        </p:nvSpPr>
        <p:spPr>
          <a:xfrm>
            <a:off x="6289280" y="1724790"/>
            <a:ext cx="6492240" cy="0"/>
          </a:xfrm>
          <a:prstGeom prst="line">
            <a:avLst/>
          </a:prstGeom>
          <a:ln cap="flat" w="38100">
            <a:solidFill>
              <a:srgbClr val="000000"/>
            </a:solidFill>
            <a:prstDash val="solid"/>
            <a:headEnd type="none" len="sm" w="sm"/>
            <a:tailEnd type="none" len="sm" w="sm"/>
          </a:ln>
        </p:spPr>
      </p:sp>
      <p:sp>
        <p:nvSpPr>
          <p:cNvPr name="TextBox 9" id="9"/>
          <p:cNvSpPr txBox="true"/>
          <p:nvPr/>
        </p:nvSpPr>
        <p:spPr>
          <a:xfrm rot="0">
            <a:off x="8251441" y="2137662"/>
            <a:ext cx="5215830" cy="505206"/>
          </a:xfrm>
          <a:prstGeom prst="rect">
            <a:avLst/>
          </a:prstGeom>
        </p:spPr>
        <p:txBody>
          <a:bodyPr anchor="t" rtlCol="false" tIns="0" lIns="0" bIns="0" rIns="0">
            <a:spAutoFit/>
          </a:bodyPr>
          <a:lstStyle/>
          <a:p>
            <a:pPr algn="ctr">
              <a:lnSpc>
                <a:spcPts val="4001"/>
              </a:lnSpc>
              <a:spcBef>
                <a:spcPct val="0"/>
              </a:spcBef>
            </a:pPr>
            <a:r>
              <a:rPr lang="en-US" sz="2899" spc="124">
                <a:solidFill>
                  <a:srgbClr val="000000"/>
                </a:solidFill>
                <a:latin typeface="Lovelo"/>
                <a:ea typeface="Lovelo"/>
                <a:cs typeface="Lovelo"/>
                <a:sym typeface="Lovelo"/>
              </a:rPr>
              <a:t>Cas</a:t>
            </a:r>
            <a:r>
              <a:rPr lang="en-US" sz="2899" spc="124">
                <a:solidFill>
                  <a:srgbClr val="000000"/>
                </a:solidFill>
                <a:latin typeface="Lovelo"/>
                <a:ea typeface="Lovelo"/>
                <a:cs typeface="Lovelo"/>
                <a:sym typeface="Lovelo"/>
              </a:rPr>
              <a:t>os de Uso Principales</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613205" y="207718"/>
            <a:ext cx="5266425" cy="10079282"/>
          </a:xfrm>
          <a:custGeom>
            <a:avLst/>
            <a:gdLst/>
            <a:ahLst/>
            <a:cxnLst/>
            <a:rect r="r" b="b" t="t" l="l"/>
            <a:pathLst>
              <a:path h="10079282" w="5266425">
                <a:moveTo>
                  <a:pt x="0" y="0"/>
                </a:moveTo>
                <a:lnTo>
                  <a:pt x="5266425" y="0"/>
                </a:lnTo>
                <a:lnTo>
                  <a:pt x="5266425" y="10079282"/>
                </a:lnTo>
                <a:lnTo>
                  <a:pt x="0" y="10079282"/>
                </a:lnTo>
                <a:lnTo>
                  <a:pt x="0" y="0"/>
                </a:lnTo>
                <a:close/>
              </a:path>
            </a:pathLst>
          </a:custGeom>
          <a:blipFill>
            <a:blip r:embed="rId4"/>
            <a:stretch>
              <a:fillRect l="0" t="0" r="0" b="0"/>
            </a:stretch>
          </a:blipFill>
        </p:spPr>
      </p:sp>
      <p:sp>
        <p:nvSpPr>
          <p:cNvPr name="TextBox 5" id="5"/>
          <p:cNvSpPr txBox="true"/>
          <p:nvPr/>
        </p:nvSpPr>
        <p:spPr>
          <a:xfrm rot="0">
            <a:off x="1304762" y="584247"/>
            <a:ext cx="5463629" cy="505206"/>
          </a:xfrm>
          <a:prstGeom prst="rect">
            <a:avLst/>
          </a:prstGeom>
        </p:spPr>
        <p:txBody>
          <a:bodyPr anchor="t" rtlCol="false" tIns="0" lIns="0" bIns="0" rIns="0">
            <a:spAutoFit/>
          </a:bodyPr>
          <a:lstStyle/>
          <a:p>
            <a:pPr algn="ctr">
              <a:lnSpc>
                <a:spcPts val="4001"/>
              </a:lnSpc>
              <a:spcBef>
                <a:spcPct val="0"/>
              </a:spcBef>
            </a:pPr>
            <a:r>
              <a:rPr lang="en-US" sz="2899" spc="124">
                <a:solidFill>
                  <a:srgbClr val="000000"/>
                </a:solidFill>
                <a:latin typeface="Lovelo"/>
                <a:ea typeface="Lovelo"/>
                <a:cs typeface="Lovelo"/>
                <a:sym typeface="Lovelo"/>
              </a:rPr>
              <a:t>Diagrama de casos de uso</a:t>
            </a:r>
          </a:p>
        </p:txBody>
      </p:sp>
      <p:sp>
        <p:nvSpPr>
          <p:cNvPr name="TextBox 6" id="6"/>
          <p:cNvSpPr txBox="true"/>
          <p:nvPr/>
        </p:nvSpPr>
        <p:spPr>
          <a:xfrm rot="0">
            <a:off x="3226033" y="2072815"/>
            <a:ext cx="4634611" cy="6547175"/>
          </a:xfrm>
          <a:prstGeom prst="rect">
            <a:avLst/>
          </a:prstGeom>
        </p:spPr>
        <p:txBody>
          <a:bodyPr anchor="t" rtlCol="false" tIns="0" lIns="0" bIns="0" rIns="0">
            <a:spAutoFit/>
          </a:bodyPr>
          <a:lstStyle/>
          <a:p>
            <a:pPr algn="l">
              <a:lnSpc>
                <a:spcPts val="4769"/>
              </a:lnSpc>
              <a:spcBef>
                <a:spcPct val="0"/>
              </a:spcBef>
            </a:pPr>
            <a:r>
              <a:rPr lang="en-US" sz="3456" spc="148">
                <a:solidFill>
                  <a:srgbClr val="000000"/>
                </a:solidFill>
                <a:latin typeface="Poppins"/>
                <a:ea typeface="Poppins"/>
                <a:cs typeface="Poppins"/>
                <a:sym typeface="Poppins"/>
              </a:rPr>
              <a:t>El diagrama representa las funcionalidades principales del Sistema de Gestión</a:t>
            </a:r>
          </a:p>
          <a:p>
            <a:pPr algn="l">
              <a:lnSpc>
                <a:spcPts val="4769"/>
              </a:lnSpc>
              <a:spcBef>
                <a:spcPct val="0"/>
              </a:spcBef>
            </a:pPr>
          </a:p>
          <a:p>
            <a:pPr algn="l">
              <a:lnSpc>
                <a:spcPts val="4769"/>
              </a:lnSpc>
              <a:spcBef>
                <a:spcPct val="0"/>
              </a:spcBef>
            </a:pPr>
            <a:r>
              <a:rPr lang="en-US" sz="3456" spc="148">
                <a:solidFill>
                  <a:srgbClr val="000000"/>
                </a:solidFill>
                <a:latin typeface="Poppins"/>
                <a:ea typeface="Poppins"/>
                <a:cs typeface="Poppins"/>
                <a:sym typeface="Poppins"/>
              </a:rPr>
              <a:t> Académica y la interacción de los actores institucionales con la plataforma.</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grpSp>
        <p:nvGrpSpPr>
          <p:cNvPr name="Group 2" id="2"/>
          <p:cNvGrpSpPr/>
          <p:nvPr/>
        </p:nvGrpSpPr>
        <p:grpSpPr>
          <a:xfrm rot="0">
            <a:off x="-648815" y="3146314"/>
            <a:ext cx="20835606" cy="4112733"/>
            <a:chOff x="0" y="0"/>
            <a:chExt cx="5487567" cy="1083189"/>
          </a:xfrm>
        </p:grpSpPr>
        <p:sp>
          <p:nvSpPr>
            <p:cNvPr name="Freeform 3" id="3"/>
            <p:cNvSpPr/>
            <p:nvPr/>
          </p:nvSpPr>
          <p:spPr>
            <a:xfrm flipH="false" flipV="false" rot="0">
              <a:off x="0" y="0"/>
              <a:ext cx="5487567" cy="1083189"/>
            </a:xfrm>
            <a:custGeom>
              <a:avLst/>
              <a:gdLst/>
              <a:ahLst/>
              <a:cxnLst/>
              <a:rect r="r" b="b" t="t" l="l"/>
              <a:pathLst>
                <a:path h="1083189" w="5487567">
                  <a:moveTo>
                    <a:pt x="0" y="0"/>
                  </a:moveTo>
                  <a:lnTo>
                    <a:pt x="5487567" y="0"/>
                  </a:lnTo>
                  <a:lnTo>
                    <a:pt x="5487567" y="1083189"/>
                  </a:lnTo>
                  <a:lnTo>
                    <a:pt x="0" y="1083189"/>
                  </a:lnTo>
                  <a:close/>
                </a:path>
              </a:pathLst>
            </a:custGeom>
            <a:solidFill>
              <a:srgbClr val="4E767D"/>
            </a:solidFill>
          </p:spPr>
        </p:sp>
        <p:sp>
          <p:nvSpPr>
            <p:cNvPr name="TextBox 4" id="4"/>
            <p:cNvSpPr txBox="true"/>
            <p:nvPr/>
          </p:nvSpPr>
          <p:spPr>
            <a:xfrm>
              <a:off x="0" y="-47625"/>
              <a:ext cx="5487567" cy="1130814"/>
            </a:xfrm>
            <a:prstGeom prst="rect">
              <a:avLst/>
            </a:prstGeom>
          </p:spPr>
          <p:txBody>
            <a:bodyPr anchor="ctr" rtlCol="false" tIns="50800" lIns="50800" bIns="50800" rIns="50800"/>
            <a:lstStyle/>
            <a:p>
              <a:pPr algn="ctr">
                <a:lnSpc>
                  <a:spcPts val="3174"/>
                </a:lnSpc>
              </a:pPr>
            </a:p>
          </p:txBody>
        </p:sp>
      </p:grpSp>
      <p:sp>
        <p:nvSpPr>
          <p:cNvPr name="TextBox 5" id="5"/>
          <p:cNvSpPr txBox="true"/>
          <p:nvPr/>
        </p:nvSpPr>
        <p:spPr>
          <a:xfrm rot="0">
            <a:off x="1491457" y="4021248"/>
            <a:ext cx="15400337" cy="3076575"/>
          </a:xfrm>
          <a:prstGeom prst="rect">
            <a:avLst/>
          </a:prstGeom>
        </p:spPr>
        <p:txBody>
          <a:bodyPr anchor="t" rtlCol="false" tIns="0" lIns="0" bIns="0" rIns="0">
            <a:spAutoFit/>
          </a:bodyPr>
          <a:lstStyle/>
          <a:p>
            <a:pPr algn="ctr" marL="0" indent="0" lvl="0">
              <a:lnSpc>
                <a:spcPts val="12120"/>
              </a:lnSpc>
              <a:spcBef>
                <a:spcPct val="0"/>
              </a:spcBef>
            </a:pPr>
            <a:r>
              <a:rPr lang="en-US" sz="10100" spc="-606">
                <a:solidFill>
                  <a:srgbClr val="F0F6F5"/>
                </a:solidFill>
                <a:latin typeface="Mokoto"/>
                <a:ea typeface="Mokoto"/>
                <a:cs typeface="Mokoto"/>
                <a:sym typeface="Mokoto"/>
              </a:rPr>
              <a:t>Modelo Fisico y logico de datos</a:t>
            </a:r>
          </a:p>
        </p:txBody>
      </p:sp>
      <p:sp>
        <p:nvSpPr>
          <p:cNvPr name="Freeform 6" id="6"/>
          <p:cNvSpPr/>
          <p:nvPr/>
        </p:nvSpPr>
        <p:spPr>
          <a:xfrm flipH="true" flipV="false" rot="0">
            <a:off x="-3508757" y="-1064553"/>
            <a:ext cx="9751946" cy="2563471"/>
          </a:xfrm>
          <a:custGeom>
            <a:avLst/>
            <a:gdLst/>
            <a:ahLst/>
            <a:cxnLst/>
            <a:rect r="r" b="b" t="t" l="l"/>
            <a:pathLst>
              <a:path h="2563471" w="9751946">
                <a:moveTo>
                  <a:pt x="9751946" y="0"/>
                </a:moveTo>
                <a:lnTo>
                  <a:pt x="0" y="0"/>
                </a:lnTo>
                <a:lnTo>
                  <a:pt x="0" y="2563471"/>
                </a:lnTo>
                <a:lnTo>
                  <a:pt x="9751946" y="2563471"/>
                </a:lnTo>
                <a:lnTo>
                  <a:pt x="9751946" y="0"/>
                </a:lnTo>
                <a:close/>
              </a:path>
            </a:pathLst>
          </a:custGeom>
          <a:blipFill>
            <a:blip r:embed="rId2">
              <a:alphaModFix amt="38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14994293" y="8520479"/>
            <a:ext cx="9751946" cy="2563471"/>
          </a:xfrm>
          <a:custGeom>
            <a:avLst/>
            <a:gdLst/>
            <a:ahLst/>
            <a:cxnLst/>
            <a:rect r="r" b="b" t="t" l="l"/>
            <a:pathLst>
              <a:path h="2563471" w="9751946">
                <a:moveTo>
                  <a:pt x="9751945" y="0"/>
                </a:moveTo>
                <a:lnTo>
                  <a:pt x="0" y="0"/>
                </a:lnTo>
                <a:lnTo>
                  <a:pt x="0" y="2563471"/>
                </a:lnTo>
                <a:lnTo>
                  <a:pt x="9751945" y="2563471"/>
                </a:lnTo>
                <a:lnTo>
                  <a:pt x="9751945" y="0"/>
                </a:lnTo>
                <a:close/>
              </a:path>
            </a:pathLst>
          </a:custGeom>
          <a:blipFill>
            <a:blip r:embed="rId2">
              <a:alphaModFix amt="38000"/>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963895" y="0"/>
            <a:ext cx="14828108" cy="10287000"/>
          </a:xfrm>
          <a:custGeom>
            <a:avLst/>
            <a:gdLst/>
            <a:ahLst/>
            <a:cxnLst/>
            <a:rect r="r" b="b" t="t" l="l"/>
            <a:pathLst>
              <a:path h="10287000" w="14828108">
                <a:moveTo>
                  <a:pt x="0" y="0"/>
                </a:moveTo>
                <a:lnTo>
                  <a:pt x="14828108" y="0"/>
                </a:lnTo>
                <a:lnTo>
                  <a:pt x="14828108" y="10287000"/>
                </a:lnTo>
                <a:lnTo>
                  <a:pt x="0" y="10287000"/>
                </a:lnTo>
                <a:lnTo>
                  <a:pt x="0" y="0"/>
                </a:lnTo>
                <a:close/>
              </a:path>
            </a:pathLst>
          </a:custGeom>
          <a:blipFill>
            <a:blip r:embed="rId4"/>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210608" y="297853"/>
            <a:ext cx="16708600" cy="791600"/>
          </a:xfrm>
          <a:prstGeom prst="rect">
            <a:avLst/>
          </a:prstGeom>
        </p:spPr>
        <p:txBody>
          <a:bodyPr anchor="t" rtlCol="false" tIns="0" lIns="0" bIns="0" rIns="0">
            <a:spAutoFit/>
          </a:bodyPr>
          <a:lstStyle/>
          <a:p>
            <a:pPr algn="l">
              <a:lnSpc>
                <a:spcPts val="6470"/>
              </a:lnSpc>
              <a:spcBef>
                <a:spcPct val="0"/>
              </a:spcBef>
            </a:pPr>
            <a:r>
              <a:rPr lang="en-US" sz="4621" u="sng">
                <a:solidFill>
                  <a:srgbClr val="000000"/>
                </a:solidFill>
                <a:latin typeface="Mokoto"/>
                <a:ea typeface="Mokoto"/>
                <a:cs typeface="Mokoto"/>
                <a:sym typeface="Mokoto"/>
              </a:rPr>
              <a:t>ENFOQUE MULTI-TENANT</a:t>
            </a:r>
          </a:p>
        </p:txBody>
      </p:sp>
      <p:sp>
        <p:nvSpPr>
          <p:cNvPr name="TextBox 5" id="5"/>
          <p:cNvSpPr txBox="true"/>
          <p:nvPr/>
        </p:nvSpPr>
        <p:spPr>
          <a:xfrm rot="0">
            <a:off x="3032327" y="2003679"/>
            <a:ext cx="12223346" cy="5460111"/>
          </a:xfrm>
          <a:prstGeom prst="rect">
            <a:avLst/>
          </a:prstGeom>
        </p:spPr>
        <p:txBody>
          <a:bodyPr anchor="t" rtlCol="false" tIns="0" lIns="0" bIns="0" rIns="0">
            <a:spAutoFit/>
          </a:bodyPr>
          <a:lstStyle/>
          <a:p>
            <a:pPr algn="l">
              <a:lnSpc>
                <a:spcPts val="3311"/>
              </a:lnSpc>
            </a:pPr>
            <a:r>
              <a:rPr lang="en-US" sz="2400" spc="88">
                <a:solidFill>
                  <a:srgbClr val="000000"/>
                </a:solidFill>
                <a:latin typeface="Poppins"/>
                <a:ea typeface="Poppins"/>
                <a:cs typeface="Poppins"/>
                <a:sym typeface="Poppins"/>
              </a:rPr>
              <a:t>El </a:t>
            </a:r>
            <a:r>
              <a:rPr lang="en-US" sz="2400" spc="88">
                <a:solidFill>
                  <a:srgbClr val="000000"/>
                </a:solidFill>
                <a:latin typeface="Poppins"/>
                <a:ea typeface="Poppins"/>
                <a:cs typeface="Poppins"/>
                <a:sym typeface="Poppins"/>
              </a:rPr>
              <a:t>modelo físico implementa aislamient</a:t>
            </a:r>
            <a:r>
              <a:rPr lang="en-US" sz="2400" spc="88">
                <a:solidFill>
                  <a:srgbClr val="000000"/>
                </a:solidFill>
                <a:latin typeface="Poppins"/>
                <a:ea typeface="Poppins"/>
                <a:cs typeface="Poppins"/>
                <a:sym typeface="Poppins"/>
              </a:rPr>
              <a:t>o institucional mediante columna id_tenant presente en todas las tablas del esquema. Esta columna actúa como discriminador de propietario institucional: toda consulta operativa sobre entidades académicas incluye id_tenant como condición de filtro, garantizando que ningún registro de una institución sea visible ni modificable desde el contexto de otra.</a:t>
            </a:r>
          </a:p>
          <a:p>
            <a:pPr algn="l">
              <a:lnSpc>
                <a:spcPts val="3311"/>
              </a:lnSpc>
            </a:pPr>
          </a:p>
          <a:p>
            <a:pPr algn="l">
              <a:lnSpc>
                <a:spcPts val="3311"/>
              </a:lnSpc>
            </a:pPr>
            <a:r>
              <a:rPr lang="en-US" sz="2400" spc="88">
                <a:solidFill>
                  <a:srgbClr val="000000"/>
                </a:solidFill>
                <a:latin typeface="Poppins"/>
                <a:ea typeface="Poppins"/>
                <a:cs typeface="Poppins"/>
                <a:sym typeface="Poppins"/>
              </a:rPr>
              <a:t>El aislamiento Multi-Tenant se implementa como restricción estructural del esquema relacional, no como política aplicada únicamente en la capa de aplicación. Esto significa que las restricciones de unicidad (UNIQUE) se definen siempre en combinación con id_tenant, garantizando unicidad dentro del ámbito institucional y no a nivel global de la plataforma.</a:t>
            </a:r>
          </a:p>
          <a:p>
            <a:pPr algn="l">
              <a:lnSpc>
                <a:spcPts val="3311"/>
              </a:lnSpc>
            </a:pPr>
          </a:p>
        </p:txBody>
      </p:sp>
      <p:sp>
        <p:nvSpPr>
          <p:cNvPr name="AutoShape 6" id="6"/>
          <p:cNvSpPr/>
          <p:nvPr/>
        </p:nvSpPr>
        <p:spPr>
          <a:xfrm>
            <a:off x="6108352" y="1108503"/>
            <a:ext cx="6492240"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4" id="4"/>
          <p:cNvGraphicFramePr>
            <a:graphicFrameLocks noGrp="true"/>
          </p:cNvGraphicFramePr>
          <p:nvPr/>
        </p:nvGraphicFramePr>
        <p:xfrm>
          <a:off x="3021596" y="571500"/>
          <a:ext cx="12690389" cy="9144000"/>
        </p:xfrm>
        <a:graphic>
          <a:graphicData uri="http://schemas.openxmlformats.org/drawingml/2006/table">
            <a:tbl>
              <a:tblPr/>
              <a:tblGrid>
                <a:gridCol w="2477605"/>
                <a:gridCol w="1926549"/>
                <a:gridCol w="3585735"/>
                <a:gridCol w="4700500"/>
              </a:tblGrid>
              <a:tr h="1042569">
                <a:tc>
                  <a:txBody>
                    <a:bodyPr anchor="t" rtlCol="false"/>
                    <a:lstStyle/>
                    <a:p>
                      <a:pPr algn="l">
                        <a:lnSpc>
                          <a:spcPts val="2100"/>
                        </a:lnSpc>
                        <a:defRPr/>
                      </a:pPr>
                      <a:endParaRPr lang="en-US" sz="1100"/>
                    </a:p>
                    <a:p>
                      <a:pPr algn="l">
                        <a:lnSpc>
                          <a:spcPts val="2100"/>
                        </a:lnSpc>
                      </a:pPr>
                      <a:r>
                        <a:rPr lang="en-US" sz="1500" b="true">
                          <a:solidFill>
                            <a:srgbClr val="000000"/>
                          </a:solidFill>
                          <a:latin typeface="Open Sans Bold"/>
                          <a:ea typeface="Open Sans Bold"/>
                          <a:cs typeface="Open Sans Bold"/>
                          <a:sym typeface="Open Sans Bold"/>
                        </a:rPr>
                        <a:t>   Columna</a:t>
                      </a:r>
                    </a:p>
                    <a:p>
                      <a:pPr algn="l">
                        <a:lnSpc>
                          <a:spcPts val="2100"/>
                        </a:lnSpc>
                      </a:pPr>
                      <a:r>
                        <a:rPr lang="en-US" sz="1500" b="true">
                          <a:solidFill>
                            <a:srgbClr val="000000"/>
                          </a:solidFill>
                          <a:latin typeface="Open Sans Bold"/>
                          <a:ea typeface="Open Sans Bold"/>
                          <a:cs typeface="Open Sans Bold"/>
                          <a:sym typeface="Open Sans Bold"/>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100"/>
                        </a:lnSpc>
                        <a:defRPr/>
                      </a:pPr>
                      <a:endParaRPr lang="en-US" sz="1100"/>
                    </a:p>
                    <a:p>
                      <a:pPr algn="l">
                        <a:lnSpc>
                          <a:spcPts val="2100"/>
                        </a:lnSpc>
                      </a:pPr>
                      <a:r>
                        <a:rPr lang="en-US" sz="1500" b="true">
                          <a:solidFill>
                            <a:srgbClr val="000000"/>
                          </a:solidFill>
                          <a:latin typeface="Open Sans Bold"/>
                          <a:ea typeface="Open Sans Bold"/>
                          <a:cs typeface="Open Sans Bold"/>
                          <a:sym typeface="Open Sans Bold"/>
                        </a:rPr>
                        <a:t>   Tipo de Dato</a:t>
                      </a:r>
                    </a:p>
                    <a:p>
                      <a:pPr algn="l">
                        <a:lnSpc>
                          <a:spcPts val="2100"/>
                        </a:lnSpc>
                      </a:pPr>
                      <a:r>
                        <a:rPr lang="en-US" sz="1500" b="true">
                          <a:solidFill>
                            <a:srgbClr val="000000"/>
                          </a:solidFill>
                          <a:latin typeface="Open Sans Bold"/>
                          <a:ea typeface="Open Sans Bold"/>
                          <a:cs typeface="Open Sans Bold"/>
                          <a:sym typeface="Open Sans Bold"/>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100"/>
                        </a:lnSpc>
                        <a:defRPr/>
                      </a:pPr>
                      <a:endParaRPr lang="en-US" sz="1100"/>
                    </a:p>
                    <a:p>
                      <a:pPr algn="l">
                        <a:lnSpc>
                          <a:spcPts val="2100"/>
                        </a:lnSpc>
                      </a:pPr>
                      <a:r>
                        <a:rPr lang="en-US" sz="1500" b="true">
                          <a:solidFill>
                            <a:srgbClr val="000000"/>
                          </a:solidFill>
                          <a:latin typeface="Open Sans Bold"/>
                          <a:ea typeface="Open Sans Bold"/>
                          <a:cs typeface="Open Sans Bold"/>
                          <a:sym typeface="Open Sans Bold"/>
                        </a:rPr>
                        <a:t>   Restricciones</a:t>
                      </a:r>
                    </a:p>
                    <a:p>
                      <a:pPr algn="l">
                        <a:lnSpc>
                          <a:spcPts val="2100"/>
                        </a:lnSpc>
                      </a:pPr>
                      <a:r>
                        <a:rPr lang="en-US" sz="1500" b="true">
                          <a:solidFill>
                            <a:srgbClr val="000000"/>
                          </a:solidFill>
                          <a:latin typeface="Open Sans Bold"/>
                          <a:ea typeface="Open Sans Bold"/>
                          <a:cs typeface="Open Sans Bold"/>
                          <a:sym typeface="Open Sans Bold"/>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100"/>
                        </a:lnSpc>
                        <a:defRPr/>
                      </a:pPr>
                      <a:endParaRPr lang="en-US" sz="1100"/>
                    </a:p>
                    <a:p>
                      <a:pPr algn="l">
                        <a:lnSpc>
                          <a:spcPts val="2100"/>
                        </a:lnSpc>
                      </a:pPr>
                      <a:r>
                        <a:rPr lang="en-US" sz="1500" b="true">
                          <a:solidFill>
                            <a:srgbClr val="000000"/>
                          </a:solidFill>
                          <a:latin typeface="Open Sans Bold"/>
                          <a:ea typeface="Open Sans Bold"/>
                          <a:cs typeface="Open Sans Bold"/>
                          <a:sym typeface="Open Sans Bold"/>
                        </a:rPr>
                        <a:t>   Descripción</a:t>
                      </a:r>
                    </a:p>
                    <a:p>
                      <a:pPr algn="l">
                        <a:lnSpc>
                          <a:spcPts val="2100"/>
                        </a:lnSpc>
                      </a:pPr>
                      <a:r>
                        <a:rPr lang="en-US" sz="1500" b="true">
                          <a:solidFill>
                            <a:srgbClr val="000000"/>
                          </a:solidFill>
                          <a:latin typeface="Open Sans Bold"/>
                          <a:ea typeface="Open Sans Bold"/>
                          <a:cs typeface="Open Sans Bold"/>
                          <a:sym typeface="Open Sans Bold"/>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10385">
                <a:tc>
                  <a:txBody>
                    <a:bodyPr anchor="t" rtlCol="false"/>
                    <a:lstStyle/>
                    <a:p>
                      <a:pPr algn="l">
                        <a:lnSpc>
                          <a:spcPts val="2100"/>
                        </a:lnSpc>
                        <a:defRPr/>
                      </a:pPr>
                      <a:endParaRPr lang="en-US" sz="1100"/>
                    </a:p>
                    <a:p>
                      <a:pPr algn="l">
                        <a:lnSpc>
                          <a:spcPts val="2100"/>
                        </a:lnSpc>
                      </a:pPr>
                      <a:r>
                        <a:rPr lang="en-US" sz="1500" b="true">
                          <a:solidFill>
                            <a:srgbClr val="000000"/>
                          </a:solidFill>
                          <a:latin typeface="Open Sans Bold"/>
                          <a:ea typeface="Open Sans Bold"/>
                          <a:cs typeface="Open Sans Bold"/>
                          <a:sym typeface="Open Sans Bold"/>
                        </a:rPr>
                        <a:t>  id_tenant</a:t>
                      </a:r>
                    </a:p>
                    <a:p>
                      <a:pPr algn="l">
                        <a:lnSpc>
                          <a:spcPts val="2100"/>
                        </a:lnSpc>
                      </a:pPr>
                      <a:r>
                        <a:rPr lang="en-US" sz="1500" b="true">
                          <a:solidFill>
                            <a:srgbClr val="000000"/>
                          </a:solidFill>
                          <a:latin typeface="Open Sans Bold"/>
                          <a:ea typeface="Open Sans Bold"/>
                          <a:cs typeface="Open Sans Bold"/>
                          <a:sym typeface="Open Sans Bold"/>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100"/>
                        </a:lnSpc>
                        <a:defRPr/>
                      </a:pPr>
                      <a:endParaRPr lang="en-US" sz="1100"/>
                    </a:p>
                    <a:p>
                      <a:pPr algn="l">
                        <a:lnSpc>
                          <a:spcPts val="2100"/>
                        </a:lnSpc>
                      </a:pPr>
                      <a:r>
                        <a:rPr lang="en-US" sz="1500" b="true">
                          <a:solidFill>
                            <a:srgbClr val="000000"/>
                          </a:solidFill>
                          <a:latin typeface="Open Sans Bold"/>
                          <a:ea typeface="Open Sans Bold"/>
                          <a:cs typeface="Open Sans Bold"/>
                          <a:sym typeface="Open Sans Bold"/>
                        </a:rPr>
                        <a:t>  UUID</a:t>
                      </a:r>
                    </a:p>
                    <a:p>
                      <a:pPr algn="l">
                        <a:lnSpc>
                          <a:spcPts val="2100"/>
                        </a:lnSpc>
                      </a:pPr>
                      <a:r>
                        <a:rPr lang="en-US" sz="1500" b="true">
                          <a:solidFill>
                            <a:srgbClr val="000000"/>
                          </a:solidFill>
                          <a:latin typeface="Open Sans Bold"/>
                          <a:ea typeface="Open Sans Bold"/>
                          <a:cs typeface="Open Sans Bold"/>
                          <a:sym typeface="Open Sans Bold"/>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100"/>
                        </a:lnSpc>
                        <a:defRPr/>
                      </a:pPr>
                      <a:endParaRPr lang="en-US" sz="1100"/>
                    </a:p>
                    <a:p>
                      <a:pPr algn="l">
                        <a:lnSpc>
                          <a:spcPts val="2100"/>
                        </a:lnSpc>
                      </a:pPr>
                      <a:r>
                        <a:rPr lang="en-US" sz="1500" b="true">
                          <a:solidFill>
                            <a:srgbClr val="000000"/>
                          </a:solidFill>
                          <a:latin typeface="Open Sans Bold"/>
                          <a:ea typeface="Open Sans Bold"/>
                          <a:cs typeface="Open Sans Bold"/>
                          <a:sym typeface="Open Sans Bold"/>
                        </a:rPr>
                        <a:t>  PK, NOT NULL</a:t>
                      </a:r>
                    </a:p>
                    <a:p>
                      <a:pPr algn="l">
                        <a:lnSpc>
                          <a:spcPts val="2100"/>
                        </a:lnSpc>
                      </a:pPr>
                      <a:r>
                        <a:rPr lang="en-US" sz="1500" b="true">
                          <a:solidFill>
                            <a:srgbClr val="000000"/>
                          </a:solidFill>
                          <a:latin typeface="Open Sans Bold"/>
                          <a:ea typeface="Open Sans Bold"/>
                          <a:cs typeface="Open Sans Bold"/>
                          <a:sym typeface="Open Sans Bold"/>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100"/>
                        </a:lnSpc>
                        <a:defRPr/>
                      </a:pPr>
                      <a:endParaRPr lang="en-US" sz="1100"/>
                    </a:p>
                    <a:p>
                      <a:pPr algn="l">
                        <a:lnSpc>
                          <a:spcPts val="2100"/>
                        </a:lnSpc>
                      </a:pPr>
                      <a:r>
                        <a:rPr lang="en-US" sz="1500" b="true">
                          <a:solidFill>
                            <a:srgbClr val="000000"/>
                          </a:solidFill>
                          <a:latin typeface="Open Sans Bold"/>
                          <a:ea typeface="Open Sans Bold"/>
                          <a:cs typeface="Open Sans Bold"/>
                          <a:sym typeface="Open Sans Bold"/>
                        </a:rPr>
                        <a:t>  Identificador único del tenant en la plataforma.</a:t>
                      </a:r>
                    </a:p>
                    <a:p>
                      <a:pPr algn="l">
                        <a:lnSpc>
                          <a:spcPts val="2100"/>
                        </a:lnSpc>
                      </a:pPr>
                      <a:r>
                        <a:rPr lang="en-US" sz="1500" b="true">
                          <a:solidFill>
                            <a:srgbClr val="000000"/>
                          </a:solidFill>
                          <a:latin typeface="Open Sans Bold"/>
                          <a:ea typeface="Open Sans Bold"/>
                          <a:cs typeface="Open Sans Bold"/>
                          <a:sym typeface="Open Sans Bold"/>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42569">
                <a:tc>
                  <a:txBody>
                    <a:bodyPr anchor="t" rtlCol="false"/>
                    <a:lstStyle/>
                    <a:p>
                      <a:pPr algn="l">
                        <a:lnSpc>
                          <a:spcPts val="2100"/>
                        </a:lnSpc>
                        <a:defRPr/>
                      </a:pPr>
                      <a:endParaRPr lang="en-US" sz="1100"/>
                    </a:p>
                    <a:p>
                      <a:pPr algn="l">
                        <a:lnSpc>
                          <a:spcPts val="2100"/>
                        </a:lnSpc>
                      </a:pPr>
                      <a:r>
                        <a:rPr lang="en-US" sz="1500" b="true">
                          <a:solidFill>
                            <a:srgbClr val="000000"/>
                          </a:solidFill>
                          <a:latin typeface="Open Sans Bold"/>
                          <a:ea typeface="Open Sans Bold"/>
                          <a:cs typeface="Open Sans Bold"/>
                          <a:sym typeface="Open Sans Bold"/>
                        </a:rPr>
                        <a:t>  nombre_institucional</a:t>
                      </a:r>
                    </a:p>
                    <a:p>
                      <a:pPr algn="l">
                        <a:lnSpc>
                          <a:spcPts val="2100"/>
                        </a:lnSpc>
                      </a:pPr>
                      <a:r>
                        <a:rPr lang="en-US" sz="1500" b="true">
                          <a:solidFill>
                            <a:srgbClr val="000000"/>
                          </a:solidFill>
                          <a:latin typeface="Open Sans Bold"/>
                          <a:ea typeface="Open Sans Bold"/>
                          <a:cs typeface="Open Sans Bold"/>
                          <a:sym typeface="Open Sans Bold"/>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100"/>
                        </a:lnSpc>
                        <a:defRPr/>
                      </a:pPr>
                      <a:endParaRPr lang="en-US" sz="1100"/>
                    </a:p>
                    <a:p>
                      <a:pPr algn="l">
                        <a:lnSpc>
                          <a:spcPts val="2100"/>
                        </a:lnSpc>
                      </a:pPr>
                      <a:r>
                        <a:rPr lang="en-US" sz="1500">
                          <a:solidFill>
                            <a:srgbClr val="000000"/>
                          </a:solidFill>
                          <a:latin typeface="Open Sans"/>
                          <a:ea typeface="Open Sans"/>
                          <a:cs typeface="Open Sans"/>
                          <a:sym typeface="Open Sans"/>
                        </a:rPr>
                        <a:t>  VARCHAR(200)</a:t>
                      </a:r>
                    </a:p>
                    <a:p>
                      <a:pPr algn="l">
                        <a:lnSpc>
                          <a:spcPts val="2100"/>
                        </a:lnSpc>
                      </a:pPr>
                      <a:r>
                        <a:rPr lang="en-US" sz="1500">
                          <a:solidFill>
                            <a:srgbClr val="000000"/>
                          </a:solidFill>
                          <a:latin typeface="Open Sans"/>
                          <a:ea typeface="Open Sans"/>
                          <a:cs typeface="Open Sans"/>
                          <a:sym typeface="Open Sans"/>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100"/>
                        </a:lnSpc>
                        <a:defRPr/>
                      </a:pPr>
                      <a:endParaRPr lang="en-US" sz="1100"/>
                    </a:p>
                    <a:p>
                      <a:pPr algn="l">
                        <a:lnSpc>
                          <a:spcPts val="2100"/>
                        </a:lnSpc>
                      </a:pPr>
                      <a:r>
                        <a:rPr lang="en-US" sz="1500">
                          <a:solidFill>
                            <a:srgbClr val="000000"/>
                          </a:solidFill>
                          <a:latin typeface="Open Sans"/>
                          <a:ea typeface="Open Sans"/>
                          <a:cs typeface="Open Sans"/>
                          <a:sym typeface="Open Sans"/>
                        </a:rPr>
                        <a:t>  NOT NULL</a:t>
                      </a:r>
                    </a:p>
                    <a:p>
                      <a:pPr algn="l">
                        <a:lnSpc>
                          <a:spcPts val="2100"/>
                        </a:lnSpc>
                      </a:pPr>
                      <a:r>
                        <a:rPr lang="en-US" sz="1500">
                          <a:solidFill>
                            <a:srgbClr val="000000"/>
                          </a:solidFill>
                          <a:latin typeface="Open Sans"/>
                          <a:ea typeface="Open Sans"/>
                          <a:cs typeface="Open Sans"/>
                          <a:sym typeface="Open Sans"/>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100"/>
                        </a:lnSpc>
                        <a:defRPr/>
                      </a:pPr>
                      <a:endParaRPr lang="en-US" sz="1100"/>
                    </a:p>
                    <a:p>
                      <a:pPr algn="l">
                        <a:lnSpc>
                          <a:spcPts val="2100"/>
                        </a:lnSpc>
                      </a:pPr>
                      <a:r>
                        <a:rPr lang="en-US" sz="1500">
                          <a:solidFill>
                            <a:srgbClr val="000000"/>
                          </a:solidFill>
                          <a:latin typeface="Open Sans"/>
                          <a:ea typeface="Open Sans"/>
                          <a:cs typeface="Open Sans"/>
                          <a:sym typeface="Open Sans"/>
                        </a:rPr>
                        <a:t>  Denominación oficial de la institución.</a:t>
                      </a:r>
                    </a:p>
                    <a:p>
                      <a:pPr algn="l">
                        <a:lnSpc>
                          <a:spcPts val="2100"/>
                        </a:lnSpc>
                      </a:pPr>
                      <a:r>
                        <a:rPr lang="en-US" sz="1500">
                          <a:solidFill>
                            <a:srgbClr val="000000"/>
                          </a:solidFill>
                          <a:latin typeface="Open Sans"/>
                          <a:ea typeface="Open Sans"/>
                          <a:cs typeface="Open Sans"/>
                          <a:sym typeface="Open Sans"/>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10385">
                <a:tc>
                  <a:txBody>
                    <a:bodyPr anchor="t" rtlCol="false"/>
                    <a:lstStyle/>
                    <a:p>
                      <a:pPr algn="l">
                        <a:lnSpc>
                          <a:spcPts val="2100"/>
                        </a:lnSpc>
                        <a:defRPr/>
                      </a:pPr>
                      <a:endParaRPr lang="en-US" sz="1100"/>
                    </a:p>
                    <a:p>
                      <a:pPr algn="l">
                        <a:lnSpc>
                          <a:spcPts val="2100"/>
                        </a:lnSpc>
                      </a:pPr>
                      <a:r>
                        <a:rPr lang="en-US" sz="1500" b="true">
                          <a:solidFill>
                            <a:srgbClr val="000000"/>
                          </a:solidFill>
                          <a:latin typeface="Open Sans Bold"/>
                          <a:ea typeface="Open Sans Bold"/>
                          <a:cs typeface="Open Sans Bold"/>
                          <a:sym typeface="Open Sans Bold"/>
                        </a:rPr>
                        <a:t>  dominio</a:t>
                      </a:r>
                    </a:p>
                    <a:p>
                      <a:pPr algn="l">
                        <a:lnSpc>
                          <a:spcPts val="2100"/>
                        </a:lnSpc>
                      </a:pPr>
                      <a:r>
                        <a:rPr lang="en-US" sz="1500" b="true">
                          <a:solidFill>
                            <a:srgbClr val="000000"/>
                          </a:solidFill>
                          <a:latin typeface="Open Sans Bold"/>
                          <a:ea typeface="Open Sans Bold"/>
                          <a:cs typeface="Open Sans Bold"/>
                          <a:sym typeface="Open Sans Bold"/>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100"/>
                        </a:lnSpc>
                        <a:defRPr/>
                      </a:pPr>
                      <a:endParaRPr lang="en-US" sz="1100"/>
                    </a:p>
                    <a:p>
                      <a:pPr algn="l">
                        <a:lnSpc>
                          <a:spcPts val="2100"/>
                        </a:lnSpc>
                      </a:pPr>
                      <a:r>
                        <a:rPr lang="en-US" sz="1500">
                          <a:solidFill>
                            <a:srgbClr val="000000"/>
                          </a:solidFill>
                          <a:latin typeface="Open Sans"/>
                          <a:ea typeface="Open Sans"/>
                          <a:cs typeface="Open Sans"/>
                          <a:sym typeface="Open Sans"/>
                        </a:rPr>
                        <a:t>  VARCHAR(100)</a:t>
                      </a:r>
                    </a:p>
                    <a:p>
                      <a:pPr algn="l">
                        <a:lnSpc>
                          <a:spcPts val="2100"/>
                        </a:lnSpc>
                      </a:pPr>
                      <a:r>
                        <a:rPr lang="en-US" sz="1500">
                          <a:solidFill>
                            <a:srgbClr val="000000"/>
                          </a:solidFill>
                          <a:latin typeface="Open Sans"/>
                          <a:ea typeface="Open Sans"/>
                          <a:cs typeface="Open Sans"/>
                          <a:sym typeface="Open Sans"/>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100"/>
                        </a:lnSpc>
                        <a:defRPr/>
                      </a:pPr>
                      <a:endParaRPr lang="en-US" sz="1100"/>
                    </a:p>
                    <a:p>
                      <a:pPr algn="l">
                        <a:lnSpc>
                          <a:spcPts val="2100"/>
                        </a:lnSpc>
                      </a:pPr>
                      <a:r>
                        <a:rPr lang="en-US" sz="1500">
                          <a:solidFill>
                            <a:srgbClr val="000000"/>
                          </a:solidFill>
                          <a:latin typeface="Open Sans"/>
                          <a:ea typeface="Open Sans"/>
                          <a:cs typeface="Open Sans"/>
                          <a:sym typeface="Open Sans"/>
                        </a:rPr>
                        <a:t>  UNIQUE, NOT NULL</a:t>
                      </a:r>
                    </a:p>
                    <a:p>
                      <a:pPr algn="l">
                        <a:lnSpc>
                          <a:spcPts val="2100"/>
                        </a:lnSpc>
                      </a:pPr>
                      <a:r>
                        <a:rPr lang="en-US" sz="1500">
                          <a:solidFill>
                            <a:srgbClr val="000000"/>
                          </a:solidFill>
                          <a:latin typeface="Open Sans"/>
                          <a:ea typeface="Open Sans"/>
                          <a:cs typeface="Open Sans"/>
                          <a:sym typeface="Open Sans"/>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100"/>
                        </a:lnSpc>
                        <a:defRPr/>
                      </a:pPr>
                      <a:endParaRPr lang="en-US" sz="1100"/>
                    </a:p>
                    <a:p>
                      <a:pPr algn="l">
                        <a:lnSpc>
                          <a:spcPts val="2100"/>
                        </a:lnSpc>
                      </a:pPr>
                      <a:r>
                        <a:rPr lang="en-US" sz="1500">
                          <a:solidFill>
                            <a:srgbClr val="000000"/>
                          </a:solidFill>
                          <a:latin typeface="Open Sans"/>
                          <a:ea typeface="Open Sans"/>
                          <a:cs typeface="Open Sans"/>
                          <a:sym typeface="Open Sans"/>
                        </a:rPr>
                        <a:t>  Dominio de correo o identificador de acceso institucional.</a:t>
                      </a:r>
                    </a:p>
                    <a:p>
                      <a:pPr algn="l">
                        <a:lnSpc>
                          <a:spcPts val="2100"/>
                        </a:lnSpc>
                      </a:pPr>
                      <a:r>
                        <a:rPr lang="en-US" sz="1500">
                          <a:solidFill>
                            <a:srgbClr val="000000"/>
                          </a:solidFill>
                          <a:latin typeface="Open Sans"/>
                          <a:ea typeface="Open Sans"/>
                          <a:cs typeface="Open Sans"/>
                          <a:sym typeface="Open Sans"/>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42569">
                <a:tc>
                  <a:txBody>
                    <a:bodyPr anchor="t" rtlCol="false"/>
                    <a:lstStyle/>
                    <a:p>
                      <a:pPr algn="l">
                        <a:lnSpc>
                          <a:spcPts val="2100"/>
                        </a:lnSpc>
                        <a:defRPr/>
                      </a:pPr>
                      <a:endParaRPr lang="en-US" sz="1100"/>
                    </a:p>
                    <a:p>
                      <a:pPr algn="l">
                        <a:lnSpc>
                          <a:spcPts val="2100"/>
                        </a:lnSpc>
                      </a:pPr>
                      <a:r>
                        <a:rPr lang="en-US" sz="1500" b="true">
                          <a:solidFill>
                            <a:srgbClr val="000000"/>
                          </a:solidFill>
                          <a:latin typeface="Open Sans Bold"/>
                          <a:ea typeface="Open Sans Bold"/>
                          <a:cs typeface="Open Sans Bold"/>
                          <a:sym typeface="Open Sans Bold"/>
                        </a:rPr>
                        <a:t>  zona_horaria</a:t>
                      </a:r>
                    </a:p>
                    <a:p>
                      <a:pPr algn="l">
                        <a:lnSpc>
                          <a:spcPts val="2100"/>
                        </a:lnSpc>
                      </a:pPr>
                      <a:r>
                        <a:rPr lang="en-US" sz="1500" b="true">
                          <a:solidFill>
                            <a:srgbClr val="000000"/>
                          </a:solidFill>
                          <a:latin typeface="Open Sans Bold"/>
                          <a:ea typeface="Open Sans Bold"/>
                          <a:cs typeface="Open Sans Bold"/>
                          <a:sym typeface="Open Sans Bold"/>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100"/>
                        </a:lnSpc>
                        <a:defRPr/>
                      </a:pPr>
                      <a:endParaRPr lang="en-US" sz="1100"/>
                    </a:p>
                    <a:p>
                      <a:pPr algn="l">
                        <a:lnSpc>
                          <a:spcPts val="2100"/>
                        </a:lnSpc>
                      </a:pPr>
                      <a:r>
                        <a:rPr lang="en-US" sz="1500">
                          <a:solidFill>
                            <a:srgbClr val="000000"/>
                          </a:solidFill>
                          <a:latin typeface="Open Sans"/>
                          <a:ea typeface="Open Sans"/>
                          <a:cs typeface="Open Sans"/>
                          <a:sym typeface="Open Sans"/>
                        </a:rPr>
                        <a:t>  VARCHAR(60)</a:t>
                      </a:r>
                    </a:p>
                    <a:p>
                      <a:pPr algn="l">
                        <a:lnSpc>
                          <a:spcPts val="2100"/>
                        </a:lnSpc>
                      </a:pPr>
                      <a:r>
                        <a:rPr lang="en-US" sz="1500">
                          <a:solidFill>
                            <a:srgbClr val="000000"/>
                          </a:solidFill>
                          <a:latin typeface="Open Sans"/>
                          <a:ea typeface="Open Sans"/>
                          <a:cs typeface="Open Sans"/>
                          <a:sym typeface="Open Sans"/>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100"/>
                        </a:lnSpc>
                        <a:defRPr/>
                      </a:pPr>
                      <a:endParaRPr lang="en-US" sz="1100"/>
                    </a:p>
                    <a:p>
                      <a:pPr algn="l">
                        <a:lnSpc>
                          <a:spcPts val="2100"/>
                        </a:lnSpc>
                      </a:pPr>
                      <a:r>
                        <a:rPr lang="en-US" sz="1500">
                          <a:solidFill>
                            <a:srgbClr val="000000"/>
                          </a:solidFill>
                          <a:latin typeface="Open Sans"/>
                          <a:ea typeface="Open Sans"/>
                          <a:cs typeface="Open Sans"/>
                          <a:sym typeface="Open Sans"/>
                        </a:rPr>
                        <a:t>  NOT NULL</a:t>
                      </a:r>
                    </a:p>
                    <a:p>
                      <a:pPr algn="l">
                        <a:lnSpc>
                          <a:spcPts val="2100"/>
                        </a:lnSpc>
                      </a:pPr>
                      <a:r>
                        <a:rPr lang="en-US" sz="1500">
                          <a:solidFill>
                            <a:srgbClr val="000000"/>
                          </a:solidFill>
                          <a:latin typeface="Open Sans"/>
                          <a:ea typeface="Open Sans"/>
                          <a:cs typeface="Open Sans"/>
                          <a:sym typeface="Open Sans"/>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100"/>
                        </a:lnSpc>
                        <a:defRPr/>
                      </a:pPr>
                      <a:endParaRPr lang="en-US" sz="1100"/>
                    </a:p>
                    <a:p>
                      <a:pPr algn="l">
                        <a:lnSpc>
                          <a:spcPts val="2100"/>
                        </a:lnSpc>
                      </a:pPr>
                      <a:r>
                        <a:rPr lang="en-US" sz="1500">
                          <a:solidFill>
                            <a:srgbClr val="000000"/>
                          </a:solidFill>
                          <a:latin typeface="Open Sans"/>
                          <a:ea typeface="Open Sans"/>
                          <a:cs typeface="Open Sans"/>
                          <a:sym typeface="Open Sans"/>
                        </a:rPr>
                        <a:t>  Zona horaria de operación (ej. America/Lima).</a:t>
                      </a:r>
                    </a:p>
                    <a:p>
                      <a:pPr algn="l">
                        <a:lnSpc>
                          <a:spcPts val="2100"/>
                        </a:lnSpc>
                      </a:pPr>
                      <a:r>
                        <a:rPr lang="en-US" sz="1500">
                          <a:solidFill>
                            <a:srgbClr val="000000"/>
                          </a:solidFill>
                          <a:latin typeface="Open Sans"/>
                          <a:ea typeface="Open Sans"/>
                          <a:cs typeface="Open Sans"/>
                          <a:sym typeface="Open Sans"/>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10385">
                <a:tc>
                  <a:txBody>
                    <a:bodyPr anchor="t" rtlCol="false"/>
                    <a:lstStyle/>
                    <a:p>
                      <a:pPr algn="l">
                        <a:lnSpc>
                          <a:spcPts val="2100"/>
                        </a:lnSpc>
                        <a:defRPr/>
                      </a:pPr>
                      <a:endParaRPr lang="en-US" sz="1100"/>
                    </a:p>
                    <a:p>
                      <a:pPr algn="l">
                        <a:lnSpc>
                          <a:spcPts val="2100"/>
                        </a:lnSpc>
                      </a:pPr>
                      <a:r>
                        <a:rPr lang="en-US" sz="1500" b="true">
                          <a:solidFill>
                            <a:srgbClr val="000000"/>
                          </a:solidFill>
                          <a:latin typeface="Open Sans Bold"/>
                          <a:ea typeface="Open Sans Bold"/>
                          <a:cs typeface="Open Sans Bold"/>
                          <a:sym typeface="Open Sans Bold"/>
                        </a:rPr>
                        <a:t>  estado</a:t>
                      </a:r>
                    </a:p>
                    <a:p>
                      <a:pPr algn="l">
                        <a:lnSpc>
                          <a:spcPts val="2100"/>
                        </a:lnSpc>
                      </a:pPr>
                      <a:r>
                        <a:rPr lang="en-US" sz="1500" b="true">
                          <a:solidFill>
                            <a:srgbClr val="000000"/>
                          </a:solidFill>
                          <a:latin typeface="Open Sans Bold"/>
                          <a:ea typeface="Open Sans Bold"/>
                          <a:cs typeface="Open Sans Bold"/>
                          <a:sym typeface="Open Sans Bold"/>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100"/>
                        </a:lnSpc>
                        <a:defRPr/>
                      </a:pPr>
                      <a:endParaRPr lang="en-US" sz="1100"/>
                    </a:p>
                    <a:p>
                      <a:pPr algn="l">
                        <a:lnSpc>
                          <a:spcPts val="2100"/>
                        </a:lnSpc>
                      </a:pPr>
                      <a:r>
                        <a:rPr lang="en-US" sz="1500">
                          <a:solidFill>
                            <a:srgbClr val="000000"/>
                          </a:solidFill>
                          <a:latin typeface="Open Sans"/>
                          <a:ea typeface="Open Sans"/>
                          <a:cs typeface="Open Sans"/>
                          <a:sym typeface="Open Sans"/>
                        </a:rPr>
                        <a:t>  VARCHAR(10)</a:t>
                      </a:r>
                    </a:p>
                    <a:p>
                      <a:pPr algn="l">
                        <a:lnSpc>
                          <a:spcPts val="2100"/>
                        </a:lnSpc>
                      </a:pPr>
                      <a:r>
                        <a:rPr lang="en-US" sz="1500">
                          <a:solidFill>
                            <a:srgbClr val="000000"/>
                          </a:solidFill>
                          <a:latin typeface="Open Sans"/>
                          <a:ea typeface="Open Sans"/>
                          <a:cs typeface="Open Sans"/>
                          <a:sym typeface="Open Sans"/>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100"/>
                        </a:lnSpc>
                        <a:defRPr/>
                      </a:pPr>
                      <a:endParaRPr lang="en-US" sz="1100"/>
                    </a:p>
                    <a:p>
                      <a:pPr algn="l">
                        <a:lnSpc>
                          <a:spcPts val="2100"/>
                        </a:lnSpc>
                      </a:pPr>
                      <a:r>
                        <a:rPr lang="en-US" sz="1500">
                          <a:solidFill>
                            <a:srgbClr val="000000"/>
                          </a:solidFill>
                          <a:latin typeface="Open Sans"/>
                          <a:ea typeface="Open Sans"/>
                          <a:cs typeface="Open Sans"/>
                          <a:sym typeface="Open Sans"/>
                        </a:rPr>
                        <a:t>  NOT NULL,</a:t>
                      </a:r>
                    </a:p>
                    <a:p>
                      <a:pPr algn="l">
                        <a:lnSpc>
                          <a:spcPts val="2100"/>
                        </a:lnSpc>
                      </a:pPr>
                      <a:r>
                        <a:rPr lang="en-US" sz="1500">
                          <a:solidFill>
                            <a:srgbClr val="000000"/>
                          </a:solidFill>
                          <a:latin typeface="Open Sans"/>
                          <a:ea typeface="Open Sans"/>
                          <a:cs typeface="Open Sans"/>
                          <a:sym typeface="Open Sans"/>
                        </a:rPr>
                        <a:t>  CHECK(ACTIVO|INACTIVO)</a:t>
                      </a:r>
                    </a:p>
                    <a:p>
                      <a:pPr algn="l">
                        <a:lnSpc>
                          <a:spcPts val="2100"/>
                        </a:lnSpc>
                      </a:pPr>
                      <a:r>
                        <a:rPr lang="en-US" sz="1500">
                          <a:solidFill>
                            <a:srgbClr val="000000"/>
                          </a:solidFill>
                          <a:latin typeface="Open Sans"/>
                          <a:ea typeface="Open Sans"/>
                          <a:cs typeface="Open Sans"/>
                          <a:sym typeface="Open Sans"/>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100"/>
                        </a:lnSpc>
                        <a:defRPr/>
                      </a:pPr>
                      <a:endParaRPr lang="en-US" sz="1100"/>
                    </a:p>
                    <a:p>
                      <a:pPr algn="l">
                        <a:lnSpc>
                          <a:spcPts val="2100"/>
                        </a:lnSpc>
                      </a:pPr>
                      <a:r>
                        <a:rPr lang="en-US" sz="1500">
                          <a:solidFill>
                            <a:srgbClr val="000000"/>
                          </a:solidFill>
                          <a:latin typeface="Open Sans"/>
                          <a:ea typeface="Open Sans"/>
                          <a:cs typeface="Open Sans"/>
                          <a:sym typeface="Open Sans"/>
                        </a:rPr>
                        <a:t>  Estado operativo del tenant.</a:t>
                      </a:r>
                    </a:p>
                    <a:p>
                      <a:pPr algn="l">
                        <a:lnSpc>
                          <a:spcPts val="2100"/>
                        </a:lnSpc>
                      </a:pPr>
                      <a:r>
                        <a:rPr lang="en-US" sz="1500">
                          <a:solidFill>
                            <a:srgbClr val="000000"/>
                          </a:solidFill>
                          <a:latin typeface="Open Sans"/>
                          <a:ea typeface="Open Sans"/>
                          <a:cs typeface="Open Sans"/>
                          <a:sym typeface="Open Sans"/>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42569">
                <a:tc>
                  <a:txBody>
                    <a:bodyPr anchor="t" rtlCol="false"/>
                    <a:lstStyle/>
                    <a:p>
                      <a:pPr algn="l">
                        <a:lnSpc>
                          <a:spcPts val="2100"/>
                        </a:lnSpc>
                        <a:defRPr/>
                      </a:pPr>
                      <a:endParaRPr lang="en-US" sz="1100"/>
                    </a:p>
                    <a:p>
                      <a:pPr algn="l">
                        <a:lnSpc>
                          <a:spcPts val="2100"/>
                        </a:lnSpc>
                      </a:pPr>
                      <a:r>
                        <a:rPr lang="en-US" sz="1500" b="true">
                          <a:solidFill>
                            <a:srgbClr val="000000"/>
                          </a:solidFill>
                          <a:latin typeface="Open Sans Bold"/>
                          <a:ea typeface="Open Sans Bold"/>
                          <a:cs typeface="Open Sans Bold"/>
                          <a:sym typeface="Open Sans Bold"/>
                        </a:rPr>
                        <a:t>  fecha_registro</a:t>
                      </a:r>
                    </a:p>
                    <a:p>
                      <a:pPr algn="l">
                        <a:lnSpc>
                          <a:spcPts val="2100"/>
                        </a:lnSpc>
                      </a:pPr>
                      <a:r>
                        <a:rPr lang="en-US" sz="1500" b="true">
                          <a:solidFill>
                            <a:srgbClr val="000000"/>
                          </a:solidFill>
                          <a:latin typeface="Open Sans Bold"/>
                          <a:ea typeface="Open Sans Bold"/>
                          <a:cs typeface="Open Sans Bold"/>
                          <a:sym typeface="Open Sans Bold"/>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100"/>
                        </a:lnSpc>
                        <a:defRPr/>
                      </a:pPr>
                      <a:endParaRPr lang="en-US" sz="1100"/>
                    </a:p>
                    <a:p>
                      <a:pPr algn="l">
                        <a:lnSpc>
                          <a:spcPts val="2100"/>
                        </a:lnSpc>
                      </a:pPr>
                      <a:r>
                        <a:rPr lang="en-US" sz="1500">
                          <a:solidFill>
                            <a:srgbClr val="000000"/>
                          </a:solidFill>
                          <a:latin typeface="Open Sans"/>
                          <a:ea typeface="Open Sans"/>
                          <a:cs typeface="Open Sans"/>
                          <a:sym typeface="Open Sans"/>
                        </a:rPr>
                        <a:t>  TIMESTAMPTZ</a:t>
                      </a:r>
                    </a:p>
                    <a:p>
                      <a:pPr algn="l">
                        <a:lnSpc>
                          <a:spcPts val="2100"/>
                        </a:lnSpc>
                      </a:pPr>
                      <a:r>
                        <a:rPr lang="en-US" sz="1500">
                          <a:solidFill>
                            <a:srgbClr val="000000"/>
                          </a:solidFill>
                          <a:latin typeface="Open Sans"/>
                          <a:ea typeface="Open Sans"/>
                          <a:cs typeface="Open Sans"/>
                          <a:sym typeface="Open Sans"/>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100"/>
                        </a:lnSpc>
                        <a:defRPr/>
                      </a:pPr>
                      <a:endParaRPr lang="en-US" sz="1100"/>
                    </a:p>
                    <a:p>
                      <a:pPr algn="l">
                        <a:lnSpc>
                          <a:spcPts val="2100"/>
                        </a:lnSpc>
                      </a:pPr>
                      <a:r>
                        <a:rPr lang="en-US" sz="1500">
                          <a:solidFill>
                            <a:srgbClr val="000000"/>
                          </a:solidFill>
                          <a:latin typeface="Open Sans"/>
                          <a:ea typeface="Open Sans"/>
                          <a:cs typeface="Open Sans"/>
                          <a:sym typeface="Open Sans"/>
                        </a:rPr>
                        <a:t>  NOT NULL, DEFAULT NOW()</a:t>
                      </a:r>
                    </a:p>
                    <a:p>
                      <a:pPr algn="l">
                        <a:lnSpc>
                          <a:spcPts val="2100"/>
                        </a:lnSpc>
                      </a:pPr>
                      <a:r>
                        <a:rPr lang="en-US" sz="1500">
                          <a:solidFill>
                            <a:srgbClr val="000000"/>
                          </a:solidFill>
                          <a:latin typeface="Open Sans"/>
                          <a:ea typeface="Open Sans"/>
                          <a:cs typeface="Open Sans"/>
                          <a:sym typeface="Open Sans"/>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100"/>
                        </a:lnSpc>
                        <a:defRPr/>
                      </a:pPr>
                      <a:endParaRPr lang="en-US" sz="1100"/>
                    </a:p>
                    <a:p>
                      <a:pPr algn="l">
                        <a:lnSpc>
                          <a:spcPts val="2100"/>
                        </a:lnSpc>
                      </a:pPr>
                      <a:r>
                        <a:rPr lang="en-US" sz="1500">
                          <a:solidFill>
                            <a:srgbClr val="000000"/>
                          </a:solidFill>
                          <a:latin typeface="Open Sans"/>
                          <a:ea typeface="Open Sans"/>
                          <a:cs typeface="Open Sans"/>
                          <a:sym typeface="Open Sans"/>
                        </a:rPr>
                        <a:t>  Fecha de incorporación a la plataforma.</a:t>
                      </a:r>
                    </a:p>
                    <a:p>
                      <a:pPr algn="l">
                        <a:lnSpc>
                          <a:spcPts val="2100"/>
                        </a:lnSpc>
                      </a:pPr>
                      <a:r>
                        <a:rPr lang="en-US" sz="1500">
                          <a:solidFill>
                            <a:srgbClr val="000000"/>
                          </a:solidFill>
                          <a:latin typeface="Open Sans"/>
                          <a:ea typeface="Open Sans"/>
                          <a:cs typeface="Open Sans"/>
                          <a:sym typeface="Open Sans"/>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42569">
                <a:tc>
                  <a:txBody>
                    <a:bodyPr anchor="t" rtlCol="false"/>
                    <a:lstStyle/>
                    <a:p>
                      <a:pPr algn="l">
                        <a:lnSpc>
                          <a:spcPts val="2100"/>
                        </a:lnSpc>
                        <a:defRPr/>
                      </a:pPr>
                      <a:endParaRPr lang="en-US" sz="1100"/>
                    </a:p>
                    <a:p>
                      <a:pPr algn="l">
                        <a:lnSpc>
                          <a:spcPts val="2100"/>
                        </a:lnSpc>
                      </a:pPr>
                      <a:r>
                        <a:rPr lang="en-US" sz="1500" b="true">
                          <a:solidFill>
                            <a:srgbClr val="000000"/>
                          </a:solidFill>
                          <a:latin typeface="Open Sans Bold"/>
                          <a:ea typeface="Open Sans Bold"/>
                          <a:cs typeface="Open Sans Bold"/>
                          <a:sym typeface="Open Sans Bold"/>
                        </a:rPr>
                        <a:t>  created_at</a:t>
                      </a:r>
                    </a:p>
                    <a:p>
                      <a:pPr algn="l">
                        <a:lnSpc>
                          <a:spcPts val="2100"/>
                        </a:lnSpc>
                      </a:pPr>
                      <a:r>
                        <a:rPr lang="en-US" sz="1500" b="true">
                          <a:solidFill>
                            <a:srgbClr val="000000"/>
                          </a:solidFill>
                          <a:latin typeface="Open Sans Bold"/>
                          <a:ea typeface="Open Sans Bold"/>
                          <a:cs typeface="Open Sans Bold"/>
                          <a:sym typeface="Open Sans Bold"/>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100"/>
                        </a:lnSpc>
                        <a:defRPr/>
                      </a:pPr>
                      <a:endParaRPr lang="en-US" sz="1100"/>
                    </a:p>
                    <a:p>
                      <a:pPr algn="l">
                        <a:lnSpc>
                          <a:spcPts val="2100"/>
                        </a:lnSpc>
                      </a:pPr>
                      <a:r>
                        <a:rPr lang="en-US" sz="1500">
                          <a:solidFill>
                            <a:srgbClr val="000000"/>
                          </a:solidFill>
                          <a:latin typeface="Open Sans"/>
                          <a:ea typeface="Open Sans"/>
                          <a:cs typeface="Open Sans"/>
                          <a:sym typeface="Open Sans"/>
                        </a:rPr>
                        <a:t>  TIMESTAMPTZ</a:t>
                      </a:r>
                    </a:p>
                    <a:p>
                      <a:pPr algn="l">
                        <a:lnSpc>
                          <a:spcPts val="2100"/>
                        </a:lnSpc>
                      </a:pPr>
                      <a:r>
                        <a:rPr lang="en-US" sz="1500">
                          <a:solidFill>
                            <a:srgbClr val="000000"/>
                          </a:solidFill>
                          <a:latin typeface="Open Sans"/>
                          <a:ea typeface="Open Sans"/>
                          <a:cs typeface="Open Sans"/>
                          <a:sym typeface="Open Sans"/>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100"/>
                        </a:lnSpc>
                        <a:defRPr/>
                      </a:pPr>
                      <a:endParaRPr lang="en-US" sz="1100"/>
                    </a:p>
                    <a:p>
                      <a:pPr algn="l">
                        <a:lnSpc>
                          <a:spcPts val="2100"/>
                        </a:lnSpc>
                      </a:pPr>
                      <a:r>
                        <a:rPr lang="en-US" sz="1500">
                          <a:solidFill>
                            <a:srgbClr val="000000"/>
                          </a:solidFill>
                          <a:latin typeface="Open Sans"/>
                          <a:ea typeface="Open Sans"/>
                          <a:cs typeface="Open Sans"/>
                          <a:sym typeface="Open Sans"/>
                        </a:rPr>
                        <a:t>  NOT NULL, DEFAULT NOW()</a:t>
                      </a:r>
                    </a:p>
                    <a:p>
                      <a:pPr algn="l">
                        <a:lnSpc>
                          <a:spcPts val="2100"/>
                        </a:lnSpc>
                      </a:pPr>
                      <a:r>
                        <a:rPr lang="en-US" sz="1500">
                          <a:solidFill>
                            <a:srgbClr val="000000"/>
                          </a:solidFill>
                          <a:latin typeface="Open Sans"/>
                          <a:ea typeface="Open Sans"/>
                          <a:cs typeface="Open Sans"/>
                          <a:sym typeface="Open Sans"/>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100"/>
                        </a:lnSpc>
                        <a:defRPr/>
                      </a:pPr>
                      <a:endParaRPr lang="en-US" sz="1100"/>
                    </a:p>
                    <a:p>
                      <a:pPr algn="l">
                        <a:lnSpc>
                          <a:spcPts val="2100"/>
                        </a:lnSpc>
                      </a:pPr>
                      <a:r>
                        <a:rPr lang="en-US" sz="1500">
                          <a:solidFill>
                            <a:srgbClr val="000000"/>
                          </a:solidFill>
                          <a:latin typeface="Open Sans"/>
                          <a:ea typeface="Open Sans"/>
                          <a:cs typeface="Open Sans"/>
                          <a:sym typeface="Open Sans"/>
                        </a:rPr>
                        <a:t>  Timestamp de creación del registro.</a:t>
                      </a:r>
                    </a:p>
                    <a:p>
                      <a:pPr algn="l">
                        <a:lnSpc>
                          <a:spcPts val="2100"/>
                        </a:lnSpc>
                      </a:pPr>
                      <a:r>
                        <a:rPr lang="en-US" sz="1500">
                          <a:solidFill>
                            <a:srgbClr val="000000"/>
                          </a:solidFill>
                          <a:latin typeface="Open Sans"/>
                          <a:ea typeface="Open Sans"/>
                          <a:cs typeface="Open Sans"/>
                          <a:sym typeface="Open Sans"/>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210608" y="297853"/>
            <a:ext cx="16708600" cy="791600"/>
          </a:xfrm>
          <a:prstGeom prst="rect">
            <a:avLst/>
          </a:prstGeom>
        </p:spPr>
        <p:txBody>
          <a:bodyPr anchor="t" rtlCol="false" tIns="0" lIns="0" bIns="0" rIns="0">
            <a:spAutoFit/>
          </a:bodyPr>
          <a:lstStyle/>
          <a:p>
            <a:pPr algn="l">
              <a:lnSpc>
                <a:spcPts val="6470"/>
              </a:lnSpc>
              <a:spcBef>
                <a:spcPct val="0"/>
              </a:spcBef>
            </a:pPr>
            <a:r>
              <a:rPr lang="en-US" sz="4621" u="sng">
                <a:solidFill>
                  <a:srgbClr val="000000"/>
                </a:solidFill>
                <a:latin typeface="Mokoto"/>
                <a:ea typeface="Mokoto"/>
                <a:cs typeface="Mokoto"/>
                <a:sym typeface="Mokoto"/>
              </a:rPr>
              <a:t>RELACIONES DEL TENANT</a:t>
            </a:r>
          </a:p>
        </p:txBody>
      </p:sp>
      <p:sp>
        <p:nvSpPr>
          <p:cNvPr name="AutoShape 5" id="5"/>
          <p:cNvSpPr/>
          <p:nvPr/>
        </p:nvSpPr>
        <p:spPr>
          <a:xfrm>
            <a:off x="6108352" y="1108503"/>
            <a:ext cx="6492240" cy="0"/>
          </a:xfrm>
          <a:prstGeom prst="line">
            <a:avLst/>
          </a:prstGeom>
          <a:ln cap="flat" w="38100">
            <a:solidFill>
              <a:srgbClr val="000000"/>
            </a:solidFill>
            <a:prstDash val="solid"/>
            <a:headEnd type="none" len="sm" w="sm"/>
            <a:tailEnd type="none" len="sm" w="sm"/>
          </a:ln>
        </p:spPr>
      </p:sp>
      <p:graphicFrame>
        <p:nvGraphicFramePr>
          <p:cNvPr name="Table 6" id="6"/>
          <p:cNvGraphicFramePr>
            <a:graphicFrameLocks noGrp="true"/>
          </p:cNvGraphicFramePr>
          <p:nvPr/>
        </p:nvGraphicFramePr>
        <p:xfrm>
          <a:off x="1646455" y="1127553"/>
          <a:ext cx="14762438" cy="8157064"/>
        </p:xfrm>
        <a:graphic>
          <a:graphicData uri="http://schemas.openxmlformats.org/drawingml/2006/table">
            <a:tbl>
              <a:tblPr/>
              <a:tblGrid>
                <a:gridCol w="3431574"/>
                <a:gridCol w="1507316"/>
                <a:gridCol w="9823548"/>
              </a:tblGrid>
              <a:tr h="1044646">
                <a:tc>
                  <a:txBody>
                    <a:bodyPr anchor="t" rtlCol="false"/>
                    <a:lstStyle/>
                    <a:p>
                      <a:pPr algn="l">
                        <a:lnSpc>
                          <a:spcPts val="2099"/>
                        </a:lnSpc>
                        <a:defRPr/>
                      </a:pPr>
                      <a:endParaRPr lang="en-US" sz="1100"/>
                    </a:p>
                    <a:p>
                      <a:pPr algn="l">
                        <a:lnSpc>
                          <a:spcPts val="2099"/>
                        </a:lnSpc>
                      </a:pPr>
                      <a:r>
                        <a:rPr lang="en-US" sz="1499" b="true">
                          <a:solidFill>
                            <a:srgbClr val="000000"/>
                          </a:solidFill>
                          <a:latin typeface="Open Sans Bold"/>
                          <a:ea typeface="Open Sans Bold"/>
                          <a:cs typeface="Open Sans Bold"/>
                          <a:sym typeface="Open Sans Bold"/>
                        </a:rPr>
                        <a:t>Entidad Relacionada</a:t>
                      </a:r>
                    </a:p>
                    <a:p>
                      <a:pPr algn="l">
                        <a:lnSpc>
                          <a:spcPts val="2099"/>
                        </a:lnSpc>
                      </a:pPr>
                      <a:r>
                        <a:rPr lang="en-US" sz="1499" b="true">
                          <a:solidFill>
                            <a:srgbClr val="000000"/>
                          </a:solidFill>
                          <a:latin typeface="Open Sans Bold"/>
                          <a:ea typeface="Open Sans Bold"/>
                          <a:cs typeface="Open Sans Bold"/>
                          <a:sym typeface="Open Sans Bold"/>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099"/>
                        </a:lnSpc>
                        <a:defRPr/>
                      </a:pPr>
                      <a:endParaRPr lang="en-US" sz="1100"/>
                    </a:p>
                    <a:p>
                      <a:pPr algn="l">
                        <a:lnSpc>
                          <a:spcPts val="2099"/>
                        </a:lnSpc>
                      </a:pPr>
                      <a:r>
                        <a:rPr lang="en-US" sz="1499" b="true">
                          <a:solidFill>
                            <a:srgbClr val="000000"/>
                          </a:solidFill>
                          <a:latin typeface="Open Sans Bold"/>
                          <a:ea typeface="Open Sans Bold"/>
                          <a:cs typeface="Open Sans Bold"/>
                          <a:sym typeface="Open Sans Bold"/>
                        </a:rPr>
                        <a:t>  Cardinalidad</a:t>
                      </a:r>
                    </a:p>
                    <a:p>
                      <a:pPr algn="l">
                        <a:lnSpc>
                          <a:spcPts val="2099"/>
                        </a:lnSpc>
                      </a:pPr>
                      <a:r>
                        <a:rPr lang="en-US" sz="1499" b="true">
                          <a:solidFill>
                            <a:srgbClr val="000000"/>
                          </a:solidFill>
                          <a:latin typeface="Open Sans Bold"/>
                          <a:ea typeface="Open Sans Bold"/>
                          <a:cs typeface="Open Sans Bold"/>
                          <a:sym typeface="Open Sans Bold"/>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099"/>
                        </a:lnSpc>
                        <a:defRPr/>
                      </a:pPr>
                      <a:endParaRPr lang="en-US" sz="1100"/>
                    </a:p>
                    <a:p>
                      <a:pPr algn="l">
                        <a:lnSpc>
                          <a:spcPts val="2099"/>
                        </a:lnSpc>
                      </a:pPr>
                      <a:r>
                        <a:rPr lang="en-US" sz="1499" b="true">
                          <a:solidFill>
                            <a:srgbClr val="000000"/>
                          </a:solidFill>
                          <a:latin typeface="Open Sans Bold"/>
                          <a:ea typeface="Open Sans Bold"/>
                          <a:cs typeface="Open Sans Bold"/>
                          <a:sym typeface="Open Sans Bold"/>
                        </a:rPr>
                        <a:t>Descripción de la Relación</a:t>
                      </a:r>
                    </a:p>
                    <a:p>
                      <a:pPr algn="l">
                        <a:lnSpc>
                          <a:spcPts val="2099"/>
                        </a:lnSpc>
                      </a:pPr>
                      <a:r>
                        <a:rPr lang="en-US" sz="1499" b="true">
                          <a:solidFill>
                            <a:srgbClr val="000000"/>
                          </a:solidFill>
                          <a:latin typeface="Open Sans Bold"/>
                          <a:ea typeface="Open Sans Bold"/>
                          <a:cs typeface="Open Sans Bold"/>
                          <a:sym typeface="Open Sans Bold"/>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09500">
                <a:tc>
                  <a:txBody>
                    <a:bodyPr anchor="t" rtlCol="false"/>
                    <a:lstStyle/>
                    <a:p>
                      <a:pPr algn="l">
                        <a:lnSpc>
                          <a:spcPts val="2099"/>
                        </a:lnSpc>
                        <a:defRPr/>
                      </a:pPr>
                      <a:endParaRPr lang="en-US" sz="1100"/>
                    </a:p>
                    <a:p>
                      <a:pPr algn="l">
                        <a:lnSpc>
                          <a:spcPts val="2099"/>
                        </a:lnSpc>
                      </a:pPr>
                      <a:r>
                        <a:rPr lang="en-US" sz="1499" b="true">
                          <a:solidFill>
                            <a:srgbClr val="000000"/>
                          </a:solidFill>
                          <a:latin typeface="Open Sans Bold"/>
                          <a:ea typeface="Open Sans Bold"/>
                          <a:cs typeface="Open Sans Bold"/>
                          <a:sym typeface="Open Sans Bold"/>
                        </a:rPr>
                        <a:t>  Usuario</a:t>
                      </a:r>
                    </a:p>
                    <a:p>
                      <a:pPr algn="l">
                        <a:lnSpc>
                          <a:spcPts val="2099"/>
                        </a:lnSpc>
                      </a:pPr>
                      <a:r>
                        <a:rPr lang="en-US" sz="1499" b="true">
                          <a:solidFill>
                            <a:srgbClr val="000000"/>
                          </a:solidFill>
                          <a:latin typeface="Open Sans Bold"/>
                          <a:ea typeface="Open Sans Bold"/>
                          <a:cs typeface="Open Sans Bold"/>
                          <a:sym typeface="Open Sans Bold"/>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099"/>
                        </a:lnSpc>
                        <a:defRPr/>
                      </a:pPr>
                      <a:endParaRPr lang="en-US" sz="1100"/>
                    </a:p>
                    <a:p>
                      <a:pPr algn="l">
                        <a:lnSpc>
                          <a:spcPts val="2099"/>
                        </a:lnSpc>
                      </a:pPr>
                      <a:r>
                        <a:rPr lang="en-US" sz="1499">
                          <a:solidFill>
                            <a:srgbClr val="000000"/>
                          </a:solidFill>
                          <a:latin typeface="Open Sans"/>
                          <a:ea typeface="Open Sans"/>
                          <a:cs typeface="Open Sans"/>
                          <a:sym typeface="Open Sans"/>
                        </a:rPr>
                        <a:t>  1 : N</a:t>
                      </a:r>
                    </a:p>
                    <a:p>
                      <a:pPr algn="l">
                        <a:lnSpc>
                          <a:spcPts val="2099"/>
                        </a:lnSpc>
                      </a:pPr>
                      <a:r>
                        <a:rPr lang="en-US" sz="1499">
                          <a:solidFill>
                            <a:srgbClr val="000000"/>
                          </a:solidFill>
                          <a:latin typeface="Open Sans"/>
                          <a:ea typeface="Open Sans"/>
                          <a:cs typeface="Open Sans"/>
                          <a:sym typeface="Open Sans"/>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099"/>
                        </a:lnSpc>
                        <a:defRPr/>
                      </a:pPr>
                      <a:endParaRPr lang="en-US" sz="1100"/>
                    </a:p>
                    <a:p>
                      <a:pPr algn="l">
                        <a:lnSpc>
                          <a:spcPts val="2099"/>
                        </a:lnSpc>
                      </a:pPr>
                      <a:r>
                        <a:rPr lang="en-US" sz="1499">
                          <a:solidFill>
                            <a:srgbClr val="000000"/>
                          </a:solidFill>
                          <a:latin typeface="Open Sans"/>
                          <a:ea typeface="Open Sans"/>
                          <a:cs typeface="Open Sans"/>
                          <a:sym typeface="Open Sans"/>
                        </a:rPr>
                        <a:t>Un Tenant tiene registrados múltiples Usuarios.</a:t>
                      </a:r>
                    </a:p>
                    <a:p>
                      <a:pPr algn="l">
                        <a:lnSpc>
                          <a:spcPts val="2099"/>
                        </a:lnSpc>
                      </a:pPr>
                      <a:r>
                        <a:rPr lang="en-US" sz="1499">
                          <a:solidFill>
                            <a:srgbClr val="000000"/>
                          </a:solidFill>
                          <a:latin typeface="Open Sans"/>
                          <a:ea typeface="Open Sans"/>
                          <a:cs typeface="Open Sans"/>
                          <a:sym typeface="Open Sans"/>
                        </a:rPr>
                        <a:t>Todo Usuario pertenece a exactamente un Tenant.</a:t>
                      </a:r>
                    </a:p>
                    <a:p>
                      <a:pPr algn="l">
                        <a:lnSpc>
                          <a:spcPts val="2099"/>
                        </a:lnSpc>
                      </a:pPr>
                      <a:r>
                        <a:rPr lang="en-US" sz="1499">
                          <a:solidFill>
                            <a:srgbClr val="000000"/>
                          </a:solidFill>
                          <a:latin typeface="Open Sans"/>
                          <a:ea typeface="Open Sans"/>
                          <a:cs typeface="Open Sans"/>
                          <a:sym typeface="Open Sans"/>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26374">
                <a:tc>
                  <a:txBody>
                    <a:bodyPr anchor="t" rtlCol="false"/>
                    <a:lstStyle/>
                    <a:p>
                      <a:pPr algn="l">
                        <a:lnSpc>
                          <a:spcPts val="2099"/>
                        </a:lnSpc>
                        <a:defRPr/>
                      </a:pPr>
                      <a:endParaRPr lang="en-US" sz="1100"/>
                    </a:p>
                    <a:p>
                      <a:pPr algn="l">
                        <a:lnSpc>
                          <a:spcPts val="2099"/>
                        </a:lnSpc>
                      </a:pPr>
                      <a:r>
                        <a:rPr lang="en-US" sz="1499" b="true">
                          <a:solidFill>
                            <a:srgbClr val="000000"/>
                          </a:solidFill>
                          <a:latin typeface="Open Sans Bold"/>
                          <a:ea typeface="Open Sans Bold"/>
                          <a:cs typeface="Open Sans Bold"/>
                          <a:sym typeface="Open Sans Bold"/>
                        </a:rPr>
                        <a:t>  Período Académico</a:t>
                      </a:r>
                    </a:p>
                    <a:p>
                      <a:pPr algn="l">
                        <a:lnSpc>
                          <a:spcPts val="2099"/>
                        </a:lnSpc>
                      </a:pPr>
                      <a:r>
                        <a:rPr lang="en-US" sz="1499" b="true">
                          <a:solidFill>
                            <a:srgbClr val="000000"/>
                          </a:solidFill>
                          <a:latin typeface="Open Sans Bold"/>
                          <a:ea typeface="Open Sans Bold"/>
                          <a:cs typeface="Open Sans Bold"/>
                          <a:sym typeface="Open Sans Bold"/>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099"/>
                        </a:lnSpc>
                        <a:defRPr/>
                      </a:pPr>
                      <a:endParaRPr lang="en-US" sz="1100"/>
                    </a:p>
                    <a:p>
                      <a:pPr algn="l">
                        <a:lnSpc>
                          <a:spcPts val="2099"/>
                        </a:lnSpc>
                      </a:pPr>
                      <a:r>
                        <a:rPr lang="en-US" sz="1499">
                          <a:solidFill>
                            <a:srgbClr val="000000"/>
                          </a:solidFill>
                          <a:latin typeface="Open Sans"/>
                          <a:ea typeface="Open Sans"/>
                          <a:cs typeface="Open Sans"/>
                          <a:sym typeface="Open Sans"/>
                        </a:rPr>
                        <a:t>  1 : N</a:t>
                      </a:r>
                    </a:p>
                    <a:p>
                      <a:pPr algn="l">
                        <a:lnSpc>
                          <a:spcPts val="2099"/>
                        </a:lnSpc>
                      </a:pPr>
                      <a:r>
                        <a:rPr lang="en-US" sz="1499">
                          <a:solidFill>
                            <a:srgbClr val="000000"/>
                          </a:solidFill>
                          <a:latin typeface="Open Sans"/>
                          <a:ea typeface="Open Sans"/>
                          <a:cs typeface="Open Sans"/>
                          <a:sym typeface="Open Sans"/>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099"/>
                        </a:lnSpc>
                        <a:defRPr/>
                      </a:pPr>
                      <a:endParaRPr lang="en-US" sz="1100"/>
                    </a:p>
                    <a:p>
                      <a:pPr algn="l">
                        <a:lnSpc>
                          <a:spcPts val="2099"/>
                        </a:lnSpc>
                      </a:pPr>
                      <a:r>
                        <a:rPr lang="en-US" sz="1499">
                          <a:solidFill>
                            <a:srgbClr val="000000"/>
                          </a:solidFill>
                          <a:latin typeface="Open Sans"/>
                          <a:ea typeface="Open Sans"/>
                          <a:cs typeface="Open Sans"/>
                          <a:sym typeface="Open Sans"/>
                        </a:rPr>
                        <a:t>Un Tenant gestiona múltiples Períodos Académicos a lo largo del tiempo.</a:t>
                      </a:r>
                    </a:p>
                    <a:p>
                      <a:pPr algn="l">
                        <a:lnSpc>
                          <a:spcPts val="2099"/>
                        </a:lnSpc>
                      </a:pPr>
                      <a:r>
                        <a:rPr lang="en-US" sz="1499">
                          <a:solidFill>
                            <a:srgbClr val="000000"/>
                          </a:solidFill>
                          <a:latin typeface="Open Sans"/>
                          <a:ea typeface="Open Sans"/>
                          <a:cs typeface="Open Sans"/>
                          <a:sym typeface="Open Sans"/>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54931">
                <a:tc>
                  <a:txBody>
                    <a:bodyPr anchor="t" rtlCol="false"/>
                    <a:lstStyle/>
                    <a:p>
                      <a:pPr algn="l">
                        <a:lnSpc>
                          <a:spcPts val="2099"/>
                        </a:lnSpc>
                        <a:defRPr/>
                      </a:pPr>
                      <a:endParaRPr lang="en-US" sz="1100"/>
                    </a:p>
                    <a:p>
                      <a:pPr algn="l">
                        <a:lnSpc>
                          <a:spcPts val="2099"/>
                        </a:lnSpc>
                      </a:pPr>
                      <a:r>
                        <a:rPr lang="en-US" sz="1499" b="true">
                          <a:solidFill>
                            <a:srgbClr val="000000"/>
                          </a:solidFill>
                          <a:latin typeface="Open Sans Bold"/>
                          <a:ea typeface="Open Sans Bold"/>
                          <a:cs typeface="Open Sans Bold"/>
                          <a:sym typeface="Open Sans Bold"/>
                        </a:rPr>
                        <a:t>  Escala de Evaluación</a:t>
                      </a:r>
                    </a:p>
                    <a:p>
                      <a:pPr algn="l">
                        <a:lnSpc>
                          <a:spcPts val="2099"/>
                        </a:lnSpc>
                      </a:pPr>
                      <a:r>
                        <a:rPr lang="en-US" sz="1499" b="true">
                          <a:solidFill>
                            <a:srgbClr val="000000"/>
                          </a:solidFill>
                          <a:latin typeface="Open Sans Bold"/>
                          <a:ea typeface="Open Sans Bold"/>
                          <a:cs typeface="Open Sans Bold"/>
                          <a:sym typeface="Open Sans Bold"/>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099"/>
                        </a:lnSpc>
                        <a:defRPr/>
                      </a:pPr>
                      <a:endParaRPr lang="en-US" sz="1100"/>
                    </a:p>
                    <a:p>
                      <a:pPr algn="l">
                        <a:lnSpc>
                          <a:spcPts val="2099"/>
                        </a:lnSpc>
                      </a:pPr>
                      <a:r>
                        <a:rPr lang="en-US" sz="1499">
                          <a:solidFill>
                            <a:srgbClr val="000000"/>
                          </a:solidFill>
                          <a:latin typeface="Open Sans"/>
                          <a:ea typeface="Open Sans"/>
                          <a:cs typeface="Open Sans"/>
                          <a:sym typeface="Open Sans"/>
                        </a:rPr>
                        <a:t>  1 : 1</a:t>
                      </a:r>
                    </a:p>
                    <a:p>
                      <a:pPr algn="l">
                        <a:lnSpc>
                          <a:spcPts val="2099"/>
                        </a:lnSpc>
                      </a:pPr>
                      <a:r>
                        <a:rPr lang="en-US" sz="1499">
                          <a:solidFill>
                            <a:srgbClr val="000000"/>
                          </a:solidFill>
                          <a:latin typeface="Open Sans"/>
                          <a:ea typeface="Open Sans"/>
                          <a:cs typeface="Open Sans"/>
                          <a:sym typeface="Open Sans"/>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099"/>
                        </a:lnSpc>
                        <a:defRPr/>
                      </a:pPr>
                      <a:endParaRPr lang="en-US" sz="1100"/>
                    </a:p>
                    <a:p>
                      <a:pPr algn="l">
                        <a:lnSpc>
                          <a:spcPts val="2099"/>
                        </a:lnSpc>
                      </a:pPr>
                      <a:r>
                        <a:rPr lang="en-US" sz="1499">
                          <a:solidFill>
                            <a:srgbClr val="000000"/>
                          </a:solidFill>
                          <a:latin typeface="Open Sans"/>
                          <a:ea typeface="Open Sans"/>
                          <a:cs typeface="Open Sans"/>
                          <a:sym typeface="Open Sans"/>
                        </a:rPr>
                        <a:t>Un Tenant tiene definida exactamente una Escala de Evaluación activa.</a:t>
                      </a:r>
                    </a:p>
                    <a:p>
                      <a:pPr algn="l">
                        <a:lnSpc>
                          <a:spcPts val="2099"/>
                        </a:lnSpc>
                      </a:pPr>
                      <a:r>
                        <a:rPr lang="en-US" sz="1499">
                          <a:solidFill>
                            <a:srgbClr val="000000"/>
                          </a:solidFill>
                          <a:latin typeface="Open Sans"/>
                          <a:ea typeface="Open Sans"/>
                          <a:cs typeface="Open Sans"/>
                          <a:sym typeface="Open Sans"/>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41548">
                <a:tc>
                  <a:txBody>
                    <a:bodyPr anchor="t" rtlCol="false"/>
                    <a:lstStyle/>
                    <a:p>
                      <a:pPr algn="l">
                        <a:lnSpc>
                          <a:spcPts val="2099"/>
                        </a:lnSpc>
                        <a:defRPr/>
                      </a:pPr>
                      <a:endParaRPr lang="en-US" sz="1100"/>
                    </a:p>
                    <a:p>
                      <a:pPr algn="l">
                        <a:lnSpc>
                          <a:spcPts val="2099"/>
                        </a:lnSpc>
                      </a:pPr>
                      <a:r>
                        <a:rPr lang="en-US" sz="1499" b="true">
                          <a:solidFill>
                            <a:srgbClr val="000000"/>
                          </a:solidFill>
                          <a:latin typeface="Open Sans Bold"/>
                          <a:ea typeface="Open Sans Bold"/>
                          <a:cs typeface="Open Sans Bold"/>
                          <a:sym typeface="Open Sans Bold"/>
                        </a:rPr>
                        <a:t>  Tipo de Componente</a:t>
                      </a:r>
                    </a:p>
                    <a:p>
                      <a:pPr algn="l">
                        <a:lnSpc>
                          <a:spcPts val="2099"/>
                        </a:lnSpc>
                      </a:pPr>
                      <a:r>
                        <a:rPr lang="en-US" sz="1499" b="true">
                          <a:solidFill>
                            <a:srgbClr val="000000"/>
                          </a:solidFill>
                          <a:latin typeface="Open Sans Bold"/>
                          <a:ea typeface="Open Sans Bold"/>
                          <a:cs typeface="Open Sans Bold"/>
                          <a:sym typeface="Open Sans Bold"/>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099"/>
                        </a:lnSpc>
                        <a:defRPr/>
                      </a:pPr>
                      <a:endParaRPr lang="en-US" sz="1100"/>
                    </a:p>
                    <a:p>
                      <a:pPr algn="l">
                        <a:lnSpc>
                          <a:spcPts val="2099"/>
                        </a:lnSpc>
                      </a:pPr>
                      <a:r>
                        <a:rPr lang="en-US" sz="1499">
                          <a:solidFill>
                            <a:srgbClr val="000000"/>
                          </a:solidFill>
                          <a:latin typeface="Open Sans"/>
                          <a:ea typeface="Open Sans"/>
                          <a:cs typeface="Open Sans"/>
                          <a:sym typeface="Open Sans"/>
                        </a:rPr>
                        <a:t>  1 : N</a:t>
                      </a:r>
                    </a:p>
                    <a:p>
                      <a:pPr algn="l">
                        <a:lnSpc>
                          <a:spcPts val="2099"/>
                        </a:lnSpc>
                      </a:pPr>
                      <a:r>
                        <a:rPr lang="en-US" sz="1499">
                          <a:solidFill>
                            <a:srgbClr val="000000"/>
                          </a:solidFill>
                          <a:latin typeface="Open Sans"/>
                          <a:ea typeface="Open Sans"/>
                          <a:cs typeface="Open Sans"/>
                          <a:sym typeface="Open Sans"/>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099"/>
                        </a:lnSpc>
                        <a:defRPr/>
                      </a:pPr>
                      <a:endParaRPr lang="en-US" sz="1100"/>
                    </a:p>
                    <a:p>
                      <a:pPr algn="l">
                        <a:lnSpc>
                          <a:spcPts val="2099"/>
                        </a:lnSpc>
                      </a:pPr>
                      <a:r>
                        <a:rPr lang="en-US" sz="1499">
                          <a:solidFill>
                            <a:srgbClr val="000000"/>
                          </a:solidFill>
                          <a:latin typeface="Open Sans"/>
                          <a:ea typeface="Open Sans"/>
                          <a:cs typeface="Open Sans"/>
                          <a:sym typeface="Open Sans"/>
                        </a:rPr>
                        <a:t>  Un Tenant define los Tipos de Componente de evaluación admitidos.</a:t>
                      </a:r>
                    </a:p>
                    <a:p>
                      <a:pPr algn="l">
                        <a:lnSpc>
                          <a:spcPts val="2099"/>
                        </a:lnSpc>
                      </a:pPr>
                      <a:r>
                        <a:rPr lang="en-US" sz="1499">
                          <a:solidFill>
                            <a:srgbClr val="000000"/>
                          </a:solidFill>
                          <a:latin typeface="Open Sans"/>
                          <a:ea typeface="Open Sans"/>
                          <a:cs typeface="Open Sans"/>
                          <a:sym typeface="Open Sans"/>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70565">
                <a:tc>
                  <a:txBody>
                    <a:bodyPr anchor="t" rtlCol="false"/>
                    <a:lstStyle/>
                    <a:p>
                      <a:pPr algn="l">
                        <a:lnSpc>
                          <a:spcPts val="2099"/>
                        </a:lnSpc>
                        <a:defRPr/>
                      </a:pPr>
                      <a:endParaRPr lang="en-US" sz="1100"/>
                    </a:p>
                    <a:p>
                      <a:pPr algn="l">
                        <a:lnSpc>
                          <a:spcPts val="2099"/>
                        </a:lnSpc>
                      </a:pPr>
                      <a:r>
                        <a:rPr lang="en-US" sz="1499" b="true">
                          <a:solidFill>
                            <a:srgbClr val="000000"/>
                          </a:solidFill>
                          <a:latin typeface="Open Sans Bold"/>
                          <a:ea typeface="Open Sans Bold"/>
                          <a:cs typeface="Open Sans Bold"/>
                          <a:sym typeface="Open Sans Bold"/>
                        </a:rPr>
                        <a:t>  Tipo de Condición Académica</a:t>
                      </a:r>
                    </a:p>
                    <a:p>
                      <a:pPr algn="l">
                        <a:lnSpc>
                          <a:spcPts val="2099"/>
                        </a:lnSpc>
                      </a:pPr>
                      <a:r>
                        <a:rPr lang="en-US" sz="1499" b="true">
                          <a:solidFill>
                            <a:srgbClr val="000000"/>
                          </a:solidFill>
                          <a:latin typeface="Open Sans Bold"/>
                          <a:ea typeface="Open Sans Bold"/>
                          <a:cs typeface="Open Sans Bold"/>
                          <a:sym typeface="Open Sans Bold"/>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099"/>
                        </a:lnSpc>
                        <a:defRPr/>
                      </a:pPr>
                      <a:endParaRPr lang="en-US" sz="1100"/>
                    </a:p>
                    <a:p>
                      <a:pPr algn="l">
                        <a:lnSpc>
                          <a:spcPts val="2099"/>
                        </a:lnSpc>
                      </a:pPr>
                      <a:r>
                        <a:rPr lang="en-US" sz="1499">
                          <a:solidFill>
                            <a:srgbClr val="000000"/>
                          </a:solidFill>
                          <a:latin typeface="Open Sans"/>
                          <a:ea typeface="Open Sans"/>
                          <a:cs typeface="Open Sans"/>
                          <a:sym typeface="Open Sans"/>
                        </a:rPr>
                        <a:t>  1 : N</a:t>
                      </a:r>
                    </a:p>
                    <a:p>
                      <a:pPr algn="l">
                        <a:lnSpc>
                          <a:spcPts val="2099"/>
                        </a:lnSpc>
                      </a:pPr>
                      <a:r>
                        <a:rPr lang="en-US" sz="1499">
                          <a:solidFill>
                            <a:srgbClr val="000000"/>
                          </a:solidFill>
                          <a:latin typeface="Open Sans"/>
                          <a:ea typeface="Open Sans"/>
                          <a:cs typeface="Open Sans"/>
                          <a:sym typeface="Open Sans"/>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099"/>
                        </a:lnSpc>
                        <a:defRPr/>
                      </a:pPr>
                      <a:endParaRPr lang="en-US" sz="1100"/>
                    </a:p>
                    <a:p>
                      <a:pPr algn="l">
                        <a:lnSpc>
                          <a:spcPts val="2099"/>
                        </a:lnSpc>
                      </a:pPr>
                      <a:r>
                        <a:rPr lang="en-US" sz="1499">
                          <a:solidFill>
                            <a:srgbClr val="000000"/>
                          </a:solidFill>
                          <a:latin typeface="Open Sans"/>
                          <a:ea typeface="Open Sans"/>
                          <a:cs typeface="Open Sans"/>
                          <a:sym typeface="Open Sans"/>
                        </a:rPr>
                        <a:t>  Un Tenant define los Tipos de Condición Académica aplicables a sus alumnos.</a:t>
                      </a:r>
                    </a:p>
                    <a:p>
                      <a:pPr algn="l">
                        <a:lnSpc>
                          <a:spcPts val="2099"/>
                        </a:lnSpc>
                      </a:pPr>
                      <a:r>
                        <a:rPr lang="en-US" sz="1499">
                          <a:solidFill>
                            <a:srgbClr val="000000"/>
                          </a:solidFill>
                          <a:latin typeface="Open Sans"/>
                          <a:ea typeface="Open Sans"/>
                          <a:cs typeface="Open Sans"/>
                          <a:sym typeface="Open Sans"/>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09500">
                <a:tc>
                  <a:txBody>
                    <a:bodyPr anchor="t" rtlCol="false"/>
                    <a:lstStyle/>
                    <a:p>
                      <a:pPr algn="l">
                        <a:lnSpc>
                          <a:spcPts val="2099"/>
                        </a:lnSpc>
                        <a:defRPr/>
                      </a:pPr>
                      <a:endParaRPr lang="en-US" sz="1100"/>
                    </a:p>
                    <a:p>
                      <a:pPr algn="l">
                        <a:lnSpc>
                          <a:spcPts val="2099"/>
                        </a:lnSpc>
                      </a:pPr>
                      <a:r>
                        <a:rPr lang="en-US" sz="1499" b="true">
                          <a:solidFill>
                            <a:srgbClr val="000000"/>
                          </a:solidFill>
                          <a:latin typeface="Open Sans Bold"/>
                          <a:ea typeface="Open Sans Bold"/>
                          <a:cs typeface="Open Sans Bold"/>
                          <a:sym typeface="Open Sans Bold"/>
                        </a:rPr>
                        <a:t>  Tipo de Evento</a:t>
                      </a:r>
                    </a:p>
                    <a:p>
                      <a:pPr algn="l">
                        <a:lnSpc>
                          <a:spcPts val="2099"/>
                        </a:lnSpc>
                      </a:pPr>
                      <a:r>
                        <a:rPr lang="en-US" sz="1499" b="true">
                          <a:solidFill>
                            <a:srgbClr val="000000"/>
                          </a:solidFill>
                          <a:latin typeface="Open Sans Bold"/>
                          <a:ea typeface="Open Sans Bold"/>
                          <a:cs typeface="Open Sans Bold"/>
                          <a:sym typeface="Open Sans Bold"/>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099"/>
                        </a:lnSpc>
                        <a:defRPr/>
                      </a:pPr>
                      <a:endParaRPr lang="en-US" sz="1100"/>
                    </a:p>
                    <a:p>
                      <a:pPr algn="l">
                        <a:lnSpc>
                          <a:spcPts val="2099"/>
                        </a:lnSpc>
                      </a:pPr>
                      <a:r>
                        <a:rPr lang="en-US" sz="1499">
                          <a:solidFill>
                            <a:srgbClr val="000000"/>
                          </a:solidFill>
                          <a:latin typeface="Open Sans"/>
                          <a:ea typeface="Open Sans"/>
                          <a:cs typeface="Open Sans"/>
                          <a:sym typeface="Open Sans"/>
                        </a:rPr>
                        <a:t>  1 : N</a:t>
                      </a:r>
                    </a:p>
                    <a:p>
                      <a:pPr algn="l">
                        <a:lnSpc>
                          <a:spcPts val="2099"/>
                        </a:lnSpc>
                      </a:pPr>
                      <a:r>
                        <a:rPr lang="en-US" sz="1499">
                          <a:solidFill>
                            <a:srgbClr val="000000"/>
                          </a:solidFill>
                          <a:latin typeface="Open Sans"/>
                          <a:ea typeface="Open Sans"/>
                          <a:cs typeface="Open Sans"/>
                          <a:sym typeface="Open Sans"/>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099"/>
                        </a:lnSpc>
                        <a:defRPr/>
                      </a:pPr>
                      <a:endParaRPr lang="en-US" sz="1100"/>
                    </a:p>
                    <a:p>
                      <a:pPr algn="l">
                        <a:lnSpc>
                          <a:spcPts val="2099"/>
                        </a:lnSpc>
                      </a:pPr>
                      <a:r>
                        <a:rPr lang="en-US" sz="1499">
                          <a:solidFill>
                            <a:srgbClr val="000000"/>
                          </a:solidFill>
                          <a:latin typeface="Open Sans"/>
                          <a:ea typeface="Open Sans"/>
                          <a:cs typeface="Open Sans"/>
                          <a:sym typeface="Open Sans"/>
                        </a:rPr>
                        <a:t>  Un Tenant define los Tipos de Evento reconocidos para el seguimiento académico.</a:t>
                      </a:r>
                    </a:p>
                    <a:p>
                      <a:pPr algn="l">
                        <a:lnSpc>
                          <a:spcPts val="2099"/>
                        </a:lnSpc>
                      </a:pPr>
                      <a:r>
                        <a:rPr lang="en-US" sz="1499">
                          <a:solidFill>
                            <a:srgbClr val="000000"/>
                          </a:solidFill>
                          <a:latin typeface="Open Sans"/>
                          <a:ea typeface="Open Sans"/>
                          <a:cs typeface="Open Sans"/>
                          <a:sym typeface="Open Sans"/>
                        </a:rPr>
                        <a:t>  </a:t>
                      </a:r>
                    </a:p>
                  </a:txBody>
                  <a:tcPr marL="76200" marR="76200" marT="76200" marB="762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grpSp>
        <p:nvGrpSpPr>
          <p:cNvPr name="Group 2" id="2"/>
          <p:cNvGrpSpPr/>
          <p:nvPr/>
        </p:nvGrpSpPr>
        <p:grpSpPr>
          <a:xfrm rot="0">
            <a:off x="-648815" y="3146314"/>
            <a:ext cx="20835606" cy="4112733"/>
            <a:chOff x="0" y="0"/>
            <a:chExt cx="5487567" cy="1083189"/>
          </a:xfrm>
        </p:grpSpPr>
        <p:sp>
          <p:nvSpPr>
            <p:cNvPr name="Freeform 3" id="3"/>
            <p:cNvSpPr/>
            <p:nvPr/>
          </p:nvSpPr>
          <p:spPr>
            <a:xfrm flipH="false" flipV="false" rot="0">
              <a:off x="0" y="0"/>
              <a:ext cx="5487567" cy="1083189"/>
            </a:xfrm>
            <a:custGeom>
              <a:avLst/>
              <a:gdLst/>
              <a:ahLst/>
              <a:cxnLst/>
              <a:rect r="r" b="b" t="t" l="l"/>
              <a:pathLst>
                <a:path h="1083189" w="5487567">
                  <a:moveTo>
                    <a:pt x="0" y="0"/>
                  </a:moveTo>
                  <a:lnTo>
                    <a:pt x="5487567" y="0"/>
                  </a:lnTo>
                  <a:lnTo>
                    <a:pt x="5487567" y="1083189"/>
                  </a:lnTo>
                  <a:lnTo>
                    <a:pt x="0" y="1083189"/>
                  </a:lnTo>
                  <a:close/>
                </a:path>
              </a:pathLst>
            </a:custGeom>
            <a:solidFill>
              <a:srgbClr val="4E767D"/>
            </a:solidFill>
          </p:spPr>
        </p:sp>
        <p:sp>
          <p:nvSpPr>
            <p:cNvPr name="TextBox 4" id="4"/>
            <p:cNvSpPr txBox="true"/>
            <p:nvPr/>
          </p:nvSpPr>
          <p:spPr>
            <a:xfrm>
              <a:off x="0" y="-47625"/>
              <a:ext cx="5487567" cy="1130814"/>
            </a:xfrm>
            <a:prstGeom prst="rect">
              <a:avLst/>
            </a:prstGeom>
          </p:spPr>
          <p:txBody>
            <a:bodyPr anchor="ctr" rtlCol="false" tIns="50800" lIns="50800" bIns="50800" rIns="50800"/>
            <a:lstStyle/>
            <a:p>
              <a:pPr algn="ctr">
                <a:lnSpc>
                  <a:spcPts val="3174"/>
                </a:lnSpc>
              </a:pPr>
            </a:p>
          </p:txBody>
        </p:sp>
      </p:grpSp>
      <p:sp>
        <p:nvSpPr>
          <p:cNvPr name="TextBox 5" id="5"/>
          <p:cNvSpPr txBox="true"/>
          <p:nvPr/>
        </p:nvSpPr>
        <p:spPr>
          <a:xfrm rot="0">
            <a:off x="1491457" y="4021248"/>
            <a:ext cx="15400337" cy="3076575"/>
          </a:xfrm>
          <a:prstGeom prst="rect">
            <a:avLst/>
          </a:prstGeom>
        </p:spPr>
        <p:txBody>
          <a:bodyPr anchor="t" rtlCol="false" tIns="0" lIns="0" bIns="0" rIns="0">
            <a:spAutoFit/>
          </a:bodyPr>
          <a:lstStyle/>
          <a:p>
            <a:pPr algn="ctr" marL="0" indent="0" lvl="0">
              <a:lnSpc>
                <a:spcPts val="12120"/>
              </a:lnSpc>
              <a:spcBef>
                <a:spcPct val="0"/>
              </a:spcBef>
            </a:pPr>
            <a:r>
              <a:rPr lang="en-US" sz="10100" spc="-606">
                <a:solidFill>
                  <a:srgbClr val="F0F6F5"/>
                </a:solidFill>
                <a:latin typeface="Mokoto"/>
                <a:ea typeface="Mokoto"/>
                <a:cs typeface="Mokoto"/>
                <a:sym typeface="Mokoto"/>
              </a:rPr>
              <a:t>Diseño de arquitectura</a:t>
            </a:r>
          </a:p>
        </p:txBody>
      </p:sp>
      <p:sp>
        <p:nvSpPr>
          <p:cNvPr name="Freeform 6" id="6"/>
          <p:cNvSpPr/>
          <p:nvPr/>
        </p:nvSpPr>
        <p:spPr>
          <a:xfrm flipH="true" flipV="false" rot="0">
            <a:off x="-3508757" y="-1064553"/>
            <a:ext cx="9751946" cy="2563471"/>
          </a:xfrm>
          <a:custGeom>
            <a:avLst/>
            <a:gdLst/>
            <a:ahLst/>
            <a:cxnLst/>
            <a:rect r="r" b="b" t="t" l="l"/>
            <a:pathLst>
              <a:path h="2563471" w="9751946">
                <a:moveTo>
                  <a:pt x="9751946" y="0"/>
                </a:moveTo>
                <a:lnTo>
                  <a:pt x="0" y="0"/>
                </a:lnTo>
                <a:lnTo>
                  <a:pt x="0" y="2563471"/>
                </a:lnTo>
                <a:lnTo>
                  <a:pt x="9751946" y="2563471"/>
                </a:lnTo>
                <a:lnTo>
                  <a:pt x="9751946" y="0"/>
                </a:lnTo>
                <a:close/>
              </a:path>
            </a:pathLst>
          </a:custGeom>
          <a:blipFill>
            <a:blip r:embed="rId2">
              <a:alphaModFix amt="38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14994293" y="8520479"/>
            <a:ext cx="9751946" cy="2563471"/>
          </a:xfrm>
          <a:custGeom>
            <a:avLst/>
            <a:gdLst/>
            <a:ahLst/>
            <a:cxnLst/>
            <a:rect r="r" b="b" t="t" l="l"/>
            <a:pathLst>
              <a:path h="2563471" w="9751946">
                <a:moveTo>
                  <a:pt x="9751945" y="0"/>
                </a:moveTo>
                <a:lnTo>
                  <a:pt x="0" y="0"/>
                </a:lnTo>
                <a:lnTo>
                  <a:pt x="0" y="2563471"/>
                </a:lnTo>
                <a:lnTo>
                  <a:pt x="9751945" y="2563471"/>
                </a:lnTo>
                <a:lnTo>
                  <a:pt x="9751945" y="0"/>
                </a:lnTo>
                <a:close/>
              </a:path>
            </a:pathLst>
          </a:custGeom>
          <a:blipFill>
            <a:blip r:embed="rId2">
              <a:alphaModFix amt="38000"/>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0">
            <a:off x="2314782" y="782758"/>
            <a:ext cx="13658435" cy="8721484"/>
          </a:xfrm>
          <a:custGeom>
            <a:avLst/>
            <a:gdLst/>
            <a:ahLst/>
            <a:cxnLst/>
            <a:rect r="r" b="b" t="t" l="l"/>
            <a:pathLst>
              <a:path h="8721484" w="13658435">
                <a:moveTo>
                  <a:pt x="0" y="0"/>
                </a:moveTo>
                <a:lnTo>
                  <a:pt x="13658436" y="0"/>
                </a:lnTo>
                <a:lnTo>
                  <a:pt x="13658436" y="8721484"/>
                </a:lnTo>
                <a:lnTo>
                  <a:pt x="0" y="8721484"/>
                </a:lnTo>
                <a:lnTo>
                  <a:pt x="0" y="0"/>
                </a:lnTo>
                <a:close/>
              </a:path>
            </a:pathLst>
          </a:custGeom>
          <a:blipFill>
            <a:blip r:embed="rId2">
              <a:extLst>
                <a:ext uri="{96DAC541-7B7A-43D3-8B79-37D633B846F1}">
                  <asvg:svgBlip xmlns:asvg="http://schemas.microsoft.com/office/drawing/2016/SVG/main" r:embed="rId3"/>
                </a:ext>
              </a:extLst>
            </a:blip>
            <a:stretch>
              <a:fillRect l="0" t="-14276" r="0" b="-114959"/>
            </a:stretch>
          </a:blipFill>
        </p:spPr>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415754" y="768257"/>
            <a:ext cx="13456492" cy="8750487"/>
          </a:xfrm>
          <a:custGeom>
            <a:avLst/>
            <a:gdLst/>
            <a:ahLst/>
            <a:cxnLst/>
            <a:rect r="r" b="b" t="t" l="l"/>
            <a:pathLst>
              <a:path h="8750487" w="13456492">
                <a:moveTo>
                  <a:pt x="0" y="0"/>
                </a:moveTo>
                <a:lnTo>
                  <a:pt x="13456492" y="0"/>
                </a:lnTo>
                <a:lnTo>
                  <a:pt x="13456492" y="8750486"/>
                </a:lnTo>
                <a:lnTo>
                  <a:pt x="0" y="8750486"/>
                </a:lnTo>
                <a:lnTo>
                  <a:pt x="0" y="0"/>
                </a:lnTo>
                <a:close/>
              </a:path>
            </a:pathLst>
          </a:custGeom>
          <a:blipFill>
            <a:blip r:embed="rId4">
              <a:extLst>
                <a:ext uri="{96DAC541-7B7A-43D3-8B79-37D633B846F1}">
                  <asvg:svgBlip xmlns:asvg="http://schemas.microsoft.com/office/drawing/2016/SVG/main" r:embed="rId5"/>
                </a:ext>
              </a:extLst>
            </a:blip>
            <a:stretch>
              <a:fillRect l="0" t="-112214" r="0" b="-12883"/>
            </a:stretch>
          </a:blipFill>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TextBox 2" id="2"/>
          <p:cNvSpPr txBox="true"/>
          <p:nvPr/>
        </p:nvSpPr>
        <p:spPr>
          <a:xfrm rot="0">
            <a:off x="2449475" y="1950814"/>
            <a:ext cx="13389049" cy="4025082"/>
          </a:xfrm>
          <a:prstGeom prst="rect">
            <a:avLst/>
          </a:prstGeom>
        </p:spPr>
        <p:txBody>
          <a:bodyPr anchor="t" rtlCol="false" tIns="0" lIns="0" bIns="0" rIns="0">
            <a:spAutoFit/>
          </a:bodyPr>
          <a:lstStyle/>
          <a:p>
            <a:pPr algn="ctr" marL="0" indent="0" lvl="0">
              <a:lnSpc>
                <a:spcPts val="15802"/>
              </a:lnSpc>
            </a:pPr>
            <a:r>
              <a:rPr lang="en-US" sz="13168" spc="-697">
                <a:solidFill>
                  <a:srgbClr val="000000"/>
                </a:solidFill>
                <a:latin typeface="Mokoto"/>
                <a:ea typeface="Mokoto"/>
                <a:cs typeface="Mokoto"/>
                <a:sym typeface="Mokoto"/>
              </a:rPr>
              <a:t>MUCHAS GRACIAS</a:t>
            </a:r>
          </a:p>
        </p:txBody>
      </p:sp>
      <p:sp>
        <p:nvSpPr>
          <p:cNvPr name="Freeform 3" id="3"/>
          <p:cNvSpPr/>
          <p:nvPr/>
        </p:nvSpPr>
        <p:spPr>
          <a:xfrm flipH="false" flipV="false" rot="0">
            <a:off x="-6802679" y="446691"/>
            <a:ext cx="10471816" cy="1523173"/>
          </a:xfrm>
          <a:custGeom>
            <a:avLst/>
            <a:gdLst/>
            <a:ahLst/>
            <a:cxnLst/>
            <a:rect r="r" b="b" t="t" l="l"/>
            <a:pathLst>
              <a:path h="1523173" w="10471816">
                <a:moveTo>
                  <a:pt x="0" y="0"/>
                </a:moveTo>
                <a:lnTo>
                  <a:pt x="10471817" y="0"/>
                </a:lnTo>
                <a:lnTo>
                  <a:pt x="10471817" y="1523173"/>
                </a:lnTo>
                <a:lnTo>
                  <a:pt x="0" y="15231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88213" y="7868825"/>
            <a:ext cx="9453842" cy="3919047"/>
          </a:xfrm>
          <a:custGeom>
            <a:avLst/>
            <a:gdLst/>
            <a:ahLst/>
            <a:cxnLst/>
            <a:rect r="r" b="b" t="t" l="l"/>
            <a:pathLst>
              <a:path h="3919047" w="9453842">
                <a:moveTo>
                  <a:pt x="0" y="0"/>
                </a:moveTo>
                <a:lnTo>
                  <a:pt x="9453843" y="0"/>
                </a:lnTo>
                <a:lnTo>
                  <a:pt x="9453843" y="3919047"/>
                </a:lnTo>
                <a:lnTo>
                  <a:pt x="0" y="39190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440611" y="7734306"/>
            <a:ext cx="2487716" cy="5105388"/>
          </a:xfrm>
          <a:custGeom>
            <a:avLst/>
            <a:gdLst/>
            <a:ahLst/>
            <a:cxnLst/>
            <a:rect r="r" b="b" t="t" l="l"/>
            <a:pathLst>
              <a:path h="5105388" w="2487716">
                <a:moveTo>
                  <a:pt x="0" y="0"/>
                </a:moveTo>
                <a:lnTo>
                  <a:pt x="2487716" y="0"/>
                </a:lnTo>
                <a:lnTo>
                  <a:pt x="2487716" y="5105388"/>
                </a:lnTo>
                <a:lnTo>
                  <a:pt x="0" y="51053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84755" y="7734306"/>
            <a:ext cx="2633170" cy="3368008"/>
          </a:xfrm>
          <a:custGeom>
            <a:avLst/>
            <a:gdLst/>
            <a:ahLst/>
            <a:cxnLst/>
            <a:rect r="r" b="b" t="t" l="l"/>
            <a:pathLst>
              <a:path h="3368008" w="2633170">
                <a:moveTo>
                  <a:pt x="0" y="0"/>
                </a:moveTo>
                <a:lnTo>
                  <a:pt x="2633170" y="0"/>
                </a:lnTo>
                <a:lnTo>
                  <a:pt x="2633170" y="3368008"/>
                </a:lnTo>
                <a:lnTo>
                  <a:pt x="0" y="336800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2212810" y="7868825"/>
            <a:ext cx="2608676" cy="3368008"/>
          </a:xfrm>
          <a:custGeom>
            <a:avLst/>
            <a:gdLst/>
            <a:ahLst/>
            <a:cxnLst/>
            <a:rect r="r" b="b" t="t" l="l"/>
            <a:pathLst>
              <a:path h="3368008" w="2608676">
                <a:moveTo>
                  <a:pt x="0" y="0"/>
                </a:moveTo>
                <a:lnTo>
                  <a:pt x="2608676" y="0"/>
                </a:lnTo>
                <a:lnTo>
                  <a:pt x="2608676" y="3368008"/>
                </a:lnTo>
                <a:lnTo>
                  <a:pt x="0" y="336800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3517148" y="0"/>
            <a:ext cx="10471816" cy="1523173"/>
          </a:xfrm>
          <a:custGeom>
            <a:avLst/>
            <a:gdLst/>
            <a:ahLst/>
            <a:cxnLst/>
            <a:rect r="r" b="b" t="t" l="l"/>
            <a:pathLst>
              <a:path h="1523173" w="10471816">
                <a:moveTo>
                  <a:pt x="0" y="0"/>
                </a:moveTo>
                <a:lnTo>
                  <a:pt x="10471817" y="0"/>
                </a:lnTo>
                <a:lnTo>
                  <a:pt x="10471817" y="1523173"/>
                </a:lnTo>
                <a:lnTo>
                  <a:pt x="0" y="15231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DAHJATpvIcc</dc:identifier>
  <dcterms:modified xsi:type="dcterms:W3CDTF">2011-08-01T06:04:30Z</dcterms:modified>
  <cp:revision>1</cp:revision>
  <dc:title>Construccion de sw- Pc2</dc:title>
</cp:coreProperties>
</file>